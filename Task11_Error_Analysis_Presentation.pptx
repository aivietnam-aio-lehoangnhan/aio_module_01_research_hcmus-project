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1295C"/>
                </a:solidFill>
                <a:latin typeface="Arial"/>
              </a:defRPr>
            </a:pPr>
            <a:r>
              <a:rPr sz="1400" b="0" i="0" u="none" strike="noStrike">
                <a:solidFill>
                  <a:srgbClr val="21295C"/>
                </a:solidFill>
                <a:latin typeface="Arial"/>
              </a:rPr>
              <a:t>FP / FN theo cấu hình</a:t>
            </a:r>
          </a:p>
        </c:rich>
      </c:tx>
      <c:layout/>
      <c:overlay val="0"/>
    </c:title>
    <c:autoTitleDeleted val="0"/>
    <c:plotArea>
      <c:layout/>
      <c:barChart>
        <c:barDir val="col"/>
        <c:grouping val="stacked"/>
        <c:varyColors val="0"/>
        <c:ser>
          <c:idx val="0"/>
          <c:order val="0"/>
          <c:tx>
            <c:strRef>
              <c:f>Sheet1!$B$1</c:f>
              <c:strCache>
                <c:ptCount val="1"/>
                <c:pt idx="0">
                  <c:v>False Positive</c:v>
                </c:pt>
              </c:strCache>
            </c:strRef>
          </c:tx>
          <c:spPr>
            <a:solidFill>
              <a:srgbClr val="E4572E"/>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Exp A</c:v>
                  </c:pt>
                  <c:pt idx="1">
                    <c:v>Exp B</c:v>
                  </c:pt>
                </c:lvl>
              </c:multiLvlStrCache>
            </c:multiLvlStrRef>
          </c:cat>
          <c:val>
            <c:numRef>
              <c:f>Sheet1!$B$2:$B$3</c:f>
              <c:numCache>
                <c:formatCode>General</c:formatCode>
                <c:ptCount val="2"/>
                <c:pt idx="0">
                  <c:v>954</c:v>
                </c:pt>
                <c:pt idx="1">
                  <c:v>860</c:v>
                </c:pt>
              </c:numCache>
            </c:numRef>
          </c:val>
        </c:ser>
        <c:ser>
          <c:idx val="1"/>
          <c:order val="1"/>
          <c:tx>
            <c:strRef>
              <c:f>Sheet1!$C$1</c:f>
              <c:strCache>
                <c:ptCount val="1"/>
                <c:pt idx="0">
                  <c:v>False Negative</c:v>
                </c:pt>
              </c:strCache>
            </c:strRef>
          </c:tx>
          <c:spPr>
            <a:solidFill>
              <a:srgbClr val="065A82"/>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Exp A</c:v>
                  </c:pt>
                  <c:pt idx="1">
                    <c:v>Exp B</c:v>
                  </c:pt>
                </c:lvl>
              </c:multiLvlStrCache>
            </c:multiLvlStrRef>
          </c:cat>
          <c:val>
            <c:numRef>
              <c:f>Sheet1!$C$2:$C$3</c:f>
              <c:numCache>
                <c:formatCode>General</c:formatCode>
                <c:ptCount val="2"/>
                <c:pt idx="0">
                  <c:v>10</c:v>
                </c:pt>
                <c:pt idx="1">
                  <c:v>30</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Exp A — 964 lỗi</a:t>
            </a:r>
          </a:p>
        </c:rich>
      </c:tx>
      <c:layout/>
      <c:overlay val="0"/>
    </c:title>
    <c:autoTitleDeleted val="0"/>
    <c:plotArea>
      <c:layout/>
      <c:pieChart>
        <c:varyColors val="1"/>
        <c:ser>
          <c:idx val="0"/>
          <c:order val="0"/>
          <c:tx>
            <c:strRef>
              <c:f>Sheet1!$B$1</c:f>
              <c:strCache>
                <c:ptCount val="1"/>
                <c:pt idx="0">
                  <c:v>Exp A</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dPt>
          <c:dPt>
            <c:idx val="1"/>
            <c:bubble3D val="0"/>
            <c:spPr>
              <a:solidFill>
                <a:srgbClr val="065A82"/>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False Positive (Neg→Pos)</c:v>
                </c:pt>
                <c:pt idx="1">
                  <c:v>False Negative (Pos→Neg)</c:v>
                </c:pt>
              </c:strCache>
            </c:strRef>
          </c:cat>
          <c:val>
            <c:numRef>
              <c:f>Sheet1!$B$2:$B$3</c:f>
              <c:numCache>
                <c:ptCount val="2"/>
                <c:pt idx="0">
                  <c:v>954</c:v>
                </c:pt>
                <c:pt idx="1">
                  <c:v>10</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Exp B — 890 lỗi</a:t>
            </a:r>
          </a:p>
        </c:rich>
      </c:tx>
      <c:layout/>
      <c:overlay val="0"/>
    </c:title>
    <c:autoTitleDeleted val="0"/>
    <c:plotArea>
      <c:layout/>
      <c:pieChart>
        <c:varyColors val="1"/>
        <c:ser>
          <c:idx val="0"/>
          <c:order val="0"/>
          <c:tx>
            <c:strRef>
              <c:f>Sheet1!$B$1</c:f>
              <c:strCache>
                <c:ptCount val="1"/>
                <c:pt idx="0">
                  <c:v>Exp B</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dPt>
          <c:dPt>
            <c:idx val="1"/>
            <c:bubble3D val="0"/>
            <c:spPr>
              <a:solidFill>
                <a:srgbClr val="065A82"/>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False Positive (Neg→Pos)</c:v>
                </c:pt>
                <c:pt idx="1">
                  <c:v>False Negative (Pos→Neg)</c:v>
                </c:pt>
              </c:strCache>
            </c:strRef>
          </c:cat>
          <c:val>
            <c:numRef>
              <c:f>Sheet1!$B$2:$B$3</c:f>
              <c:numCache>
                <c:ptCount val="2"/>
                <c:pt idx="0">
                  <c:v>860</c:v>
                </c:pt>
                <c:pt idx="1">
                  <c:v>30</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Task 11 đào sâu vào các câu mô hình dự đoán sai từ kết quả Task 7 (KAN-17). Mục tiêu: hiểu TẠI SAO sai, tìm pattern lỗi, và đề xuất hướng cải thiện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mục tiêu chính của Task 11, và nguồn dữ liệu dùng để phân tích — 2000 câu test, dùng đúng bản classifier đã được QA ở Task 7 trên GitHub (origin/main).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 A sai 964/2000 câu (Acc 51.8%), Exp B sai 890/2000 (Acc 55.5%). Loại stopwords giảm ròng 74 lỗi: sửa được 103 câu nhưng tạo mới 29 câu — không phải lợi ích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phải lỗi ngẫu nhiên: model có bias hệ thống — gần như luôn đoán Positive. Loại stopwords làm giảm mức độ (99% -&gt; 97%) nhưng không đổi bản chất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nguyên nhân chiếm 95% tổng số lỗi FP. C1 (negation phạm vi 1 token) là lớn nhất — chiếm gần 72% lỗi ở Exp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trace trực tiếp bằng code cho thấy cùng 1 câu, cùng nhãn thật, nhưng đổi kết quả chỉ vì thứ tự token thay đổi khi xoá stopword — không phải vì logic phủ định được cải thiện thật sự.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đề xuất cụ thể, ưu tiên theo tác động: (1) và (2) giải quyết 2 pattern lỗi lớn nhất C1+C4 (~885/964 lỗi ở Exp A). (4) giải thích luôn vì sao kết quả A/B hiện tại chưa đáng tin cậy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kết quả A/B hiện tại chưa đủ tin cậy để kết luận stopword có lợi hay không, vì phần lớn khác biệt tới từ hiệu ứng dịch token chứ không phải từ ngữ nghĩa của từ dừng. Cần fix classifier trước khi rerun A/B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65A82">
              <a:alpha val="45000"/>
            </a:srgbClr>
          </a:solidFill>
          <a:ln/>
        </p:spPr>
      </p:sp>
      <p:sp>
        <p:nvSpPr>
          <p:cNvPr id="3" name="Shape 1"/>
          <p:cNvSpPr/>
          <p:nvPr/>
        </p:nvSpPr>
        <p:spPr>
          <a:xfrm>
            <a:off x="-2286000" y="4389120"/>
            <a:ext cx="4572000" cy="4572000"/>
          </a:xfrm>
          <a:prstGeom prst="ellipse">
            <a:avLst/>
          </a:prstGeom>
          <a:solidFill>
            <a:srgbClr val="1C7293">
              <a:alpha val="40000"/>
            </a:srgbClr>
          </a:solidFill>
          <a:ln/>
        </p:spPr>
      </p:sp>
      <p:sp>
        <p:nvSpPr>
          <p:cNvPr id="4" name="Text 2"/>
          <p:cNvSpPr/>
          <p:nvPr/>
        </p:nvSpPr>
        <p:spPr>
          <a:xfrm>
            <a:off x="822960" y="1828800"/>
            <a:ext cx="7315200" cy="457200"/>
          </a:xfrm>
          <a:prstGeom prst="rect">
            <a:avLst/>
          </a:prstGeom>
          <a:noFill/>
          <a:ln/>
        </p:spPr>
        <p:txBody>
          <a:bodyPr wrap="square" lIns="0" tIns="0" rIns="0" bIns="0" rtlCol="0" anchor="ctr"/>
          <a:lstStyle/>
          <a:p>
            <a:pPr indent="0" marL="0">
              <a:buNone/>
            </a:pPr>
            <a:r>
              <a:rPr lang="en-US" sz="1600" b="1" spc="400" kern="0" dirty="0">
                <a:solidFill>
                  <a:srgbClr val="3FA796"/>
                </a:solidFill>
                <a:latin typeface="Calibri" pitchFamily="34" charset="0"/>
                <a:ea typeface="Calibri" pitchFamily="34" charset="-122"/>
                <a:cs typeface="Calibri" pitchFamily="34" charset="-120"/>
              </a:rPr>
              <a:t>TASK 11</a:t>
            </a:r>
            <a:endParaRPr lang="en-US" sz="1600" dirty="0"/>
          </a:p>
        </p:txBody>
      </p:sp>
      <p:sp>
        <p:nvSpPr>
          <p:cNvPr id="5" name="Text 3"/>
          <p:cNvSpPr/>
          <p:nvPr/>
        </p:nvSpPr>
        <p:spPr>
          <a:xfrm>
            <a:off x="777240" y="2286000"/>
            <a:ext cx="9601200" cy="12801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Error Analysis</a:t>
            </a:r>
            <a:endParaRPr lang="en-US" sz="4800" dirty="0"/>
          </a:p>
        </p:txBody>
      </p:sp>
      <p:sp>
        <p:nvSpPr>
          <p:cNvPr id="6" name="Text 4"/>
          <p:cNvSpPr/>
          <p:nvPr/>
        </p:nvSpPr>
        <p:spPr>
          <a:xfrm>
            <a:off x="822960" y="3520440"/>
            <a:ext cx="9144000" cy="548640"/>
          </a:xfrm>
          <a:prstGeom prst="rect">
            <a:avLst/>
          </a:prstGeom>
          <a:noFill/>
          <a:ln/>
        </p:spPr>
        <p:txBody>
          <a:bodyPr wrap="square" lIns="0" tIns="0" rIns="0" bIns="0" rtlCol="0" anchor="ctr"/>
          <a:lstStyle/>
          <a:p>
            <a:pPr indent="0" marL="0">
              <a:buNone/>
            </a:pPr>
            <a:r>
              <a:rPr lang="en-US" sz="1800" dirty="0">
                <a:solidFill>
                  <a:srgbClr val="EAF4F7"/>
                </a:solidFill>
                <a:latin typeface="Calibri" pitchFamily="34" charset="0"/>
                <a:ea typeface="Calibri" pitchFamily="34" charset="-122"/>
                <a:cs typeface="Calibri" pitchFamily="34" charset="-120"/>
              </a:rPr>
              <a:t>Vì sao model sai? So sánh lỗi giữa giữ và loại Stopwords (Exp A vs Exp B)</a:t>
            </a:r>
            <a:endParaRPr lang="en-US" sz="1800" dirty="0"/>
          </a:p>
        </p:txBody>
      </p:sp>
      <p:sp>
        <p:nvSpPr>
          <p:cNvPr id="7" name="Text 5"/>
          <p:cNvSpPr/>
          <p:nvPr/>
        </p:nvSpPr>
        <p:spPr>
          <a:xfrm>
            <a:off x="822960" y="5943600"/>
            <a:ext cx="100584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2000 câu test</a:t>
            </a:r>
            <a:pPr indent="0" marL="0">
              <a:buNone/>
            </a:pPr>
            <a:r>
              <a:rPr lang="en-US" sz="1400" dirty="0">
                <a:solidFill>
                  <a:srgbClr val="EAF4F7"/>
                </a:solidFill>
                <a:latin typeface="Calibri" pitchFamily="34" charset="0"/>
                <a:ea typeface="Calibri" pitchFamily="34" charset="-122"/>
                <a:cs typeface="Calibri" pitchFamily="34" charset="-120"/>
              </a:rPr>
              <a:t>   ·   Rule-based sentiment classifier   ·   </a:t>
            </a:r>
            <a:pPr indent="0" marL="0">
              <a:buNone/>
            </a:pPr>
            <a:r>
              <a:rPr lang="en-US" sz="1400" b="1" dirty="0">
                <a:solidFill>
                  <a:srgbClr val="3FA796"/>
                </a:solidFill>
                <a:latin typeface="Calibri" pitchFamily="34" charset="0"/>
                <a:ea typeface="Calibri" pitchFamily="34" charset="-122"/>
                <a:cs typeface="Calibri" pitchFamily="34" charset="-120"/>
              </a:rPr>
              <a:t>5 phút trình bày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Mục tiêu &amp; phạm vi phân tích</a:t>
            </a:r>
            <a:endParaRPr lang="en-US" sz="3200" dirty="0"/>
          </a:p>
        </p:txBody>
      </p:sp>
      <p:sp>
        <p:nvSpPr>
          <p:cNvPr id="3" name="Shape 1"/>
          <p:cNvSpPr/>
          <p:nvPr/>
        </p:nvSpPr>
        <p:spPr>
          <a:xfrm>
            <a:off x="548640" y="1417320"/>
            <a:ext cx="3429000" cy="2651760"/>
          </a:xfrm>
          <a:prstGeom prst="roundRect">
            <a:avLst>
              <a:gd name="adj" fmla="val 4138"/>
            </a:avLst>
          </a:prstGeom>
          <a:solidFill>
            <a:srgbClr val="EAF4F7"/>
          </a:solidFill>
          <a:ln/>
          <a:effectLst>
            <a:outerShdw sx="100000" sy="100000" kx="0" ky="0" algn="bl" rotWithShape="0" blurRad="101600" dist="38100" dir="2700000">
              <a:srgbClr val="000000">
                <a:alpha val="12000"/>
              </a:srgbClr>
            </a:outerShdw>
          </a:effectLst>
        </p:spPr>
      </p:sp>
      <p:sp>
        <p:nvSpPr>
          <p:cNvPr id="4" name="Shape 2"/>
          <p:cNvSpPr/>
          <p:nvPr/>
        </p:nvSpPr>
        <p:spPr>
          <a:xfrm>
            <a:off x="822960" y="1737360"/>
            <a:ext cx="548640" cy="548640"/>
          </a:xfrm>
          <a:prstGeom prst="ellipse">
            <a:avLst/>
          </a:prstGeom>
          <a:solidFill>
            <a:srgbClr val="065A82"/>
          </a:solidFill>
          <a:ln/>
        </p:spPr>
      </p:sp>
      <p:sp>
        <p:nvSpPr>
          <p:cNvPr id="5" name="Text 3"/>
          <p:cNvSpPr/>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822960" y="2423160"/>
            <a:ext cx="2880360" cy="54864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Không chỉ đếm lỗi</a:t>
            </a:r>
            <a:endParaRPr lang="en-US" sz="1700" dirty="0"/>
          </a:p>
        </p:txBody>
      </p:sp>
      <p:sp>
        <p:nvSpPr>
          <p:cNvPr id="7" name="Text 5"/>
          <p:cNvSpPr/>
          <p:nvPr/>
        </p:nvSpPr>
        <p:spPr>
          <a:xfrm>
            <a:off x="822960" y="2971800"/>
            <a:ext cx="2880360" cy="1005840"/>
          </a:xfrm>
          <a:prstGeom prst="rect">
            <a:avLst/>
          </a:prstGeom>
          <a:noFill/>
          <a:ln/>
        </p:spPr>
        <p:txBody>
          <a:bodyPr wrap="square" lIns="0" tIns="0" rIns="0" bIns="0" rtlCol="0" anchor="ctr"/>
          <a:lstStyle/>
          <a:p>
            <a:pPr indent="0" marL="0">
              <a:buNone/>
            </a:pPr>
            <a:r>
              <a:rPr lang="en-US" sz="1300" dirty="0">
                <a:solidFill>
                  <a:srgbClr val="5B6B79"/>
                </a:solidFill>
                <a:latin typeface="Calibri" pitchFamily="34" charset="0"/>
                <a:ea typeface="Calibri" pitchFamily="34" charset="-122"/>
                <a:cs typeface="Calibri" pitchFamily="34" charset="-120"/>
              </a:rPr>
              <a:t>Giải thích TẠI SAO model sai — truy vết cơ chế chấm điểm cho từng câu cụ thể.</a:t>
            </a:r>
            <a:endParaRPr lang="en-US" sz="1300" dirty="0"/>
          </a:p>
        </p:txBody>
      </p:sp>
      <p:sp>
        <p:nvSpPr>
          <p:cNvPr id="8" name="Shape 6"/>
          <p:cNvSpPr/>
          <p:nvPr/>
        </p:nvSpPr>
        <p:spPr>
          <a:xfrm>
            <a:off x="4297680" y="1417320"/>
            <a:ext cx="3429000" cy="2651760"/>
          </a:xfrm>
          <a:prstGeom prst="roundRect">
            <a:avLst>
              <a:gd name="adj" fmla="val 4138"/>
            </a:avLst>
          </a:prstGeom>
          <a:solidFill>
            <a:srgbClr val="EAF4F7"/>
          </a:solidFill>
          <a:ln/>
          <a:effectLst>
            <a:outerShdw sx="100000" sy="100000" kx="0" ky="0" algn="bl" rotWithShape="0" blurRad="101600" dist="38100" dir="2700000">
              <a:srgbClr val="000000">
                <a:alpha val="12000"/>
              </a:srgbClr>
            </a:outerShdw>
          </a:effectLst>
        </p:spPr>
      </p:sp>
      <p:sp>
        <p:nvSpPr>
          <p:cNvPr id="9" name="Shape 7"/>
          <p:cNvSpPr/>
          <p:nvPr/>
        </p:nvSpPr>
        <p:spPr>
          <a:xfrm>
            <a:off x="4572000" y="1737360"/>
            <a:ext cx="548640" cy="548640"/>
          </a:xfrm>
          <a:prstGeom prst="ellipse">
            <a:avLst/>
          </a:prstGeom>
          <a:solidFill>
            <a:srgbClr val="065A82"/>
          </a:solidFill>
          <a:ln/>
        </p:spPr>
      </p:sp>
      <p:sp>
        <p:nvSpPr>
          <p:cNvPr id="10" name="Text 8"/>
          <p:cNvSpPr/>
          <p:nvPr/>
        </p:nvSpPr>
        <p:spPr>
          <a:xfrm>
            <a:off x="457200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4572000" y="2423160"/>
            <a:ext cx="2880360" cy="54864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2 loại lỗi chính</a:t>
            </a:r>
            <a:endParaRPr lang="en-US" sz="1700" dirty="0"/>
          </a:p>
        </p:txBody>
      </p:sp>
      <p:sp>
        <p:nvSpPr>
          <p:cNvPr id="12" name="Text 10"/>
          <p:cNvSpPr/>
          <p:nvPr/>
        </p:nvSpPr>
        <p:spPr>
          <a:xfrm>
            <a:off x="4572000" y="2971800"/>
            <a:ext cx="2880360" cy="1005840"/>
          </a:xfrm>
          <a:prstGeom prst="rect">
            <a:avLst/>
          </a:prstGeom>
          <a:noFill/>
          <a:ln/>
        </p:spPr>
        <p:txBody>
          <a:bodyPr wrap="square" lIns="0" tIns="0" rIns="0" bIns="0" rtlCol="0" anchor="ctr"/>
          <a:lstStyle/>
          <a:p>
            <a:pPr indent="0" marL="0">
              <a:buNone/>
            </a:pPr>
            <a:r>
              <a:rPr lang="en-US" sz="1300" dirty="0">
                <a:solidFill>
                  <a:srgbClr val="5B6B79"/>
                </a:solidFill>
                <a:latin typeface="Calibri" pitchFamily="34" charset="0"/>
                <a:ea typeface="Calibri" pitchFamily="34" charset="-122"/>
                <a:cs typeface="Calibri" pitchFamily="34" charset="-120"/>
              </a:rPr>
              <a:t>False Positive (đoán Positive nhưng thật Negative) và False Negative (ngược lại).</a:t>
            </a:r>
            <a:endParaRPr lang="en-US" sz="1300" dirty="0"/>
          </a:p>
        </p:txBody>
      </p:sp>
      <p:sp>
        <p:nvSpPr>
          <p:cNvPr id="13" name="Shape 11"/>
          <p:cNvSpPr/>
          <p:nvPr/>
        </p:nvSpPr>
        <p:spPr>
          <a:xfrm>
            <a:off x="8046720" y="1417320"/>
            <a:ext cx="3429000" cy="2651760"/>
          </a:xfrm>
          <a:prstGeom prst="roundRect">
            <a:avLst>
              <a:gd name="adj" fmla="val 4138"/>
            </a:avLst>
          </a:prstGeom>
          <a:solidFill>
            <a:srgbClr val="EAF4F7"/>
          </a:solidFill>
          <a:ln/>
          <a:effectLst>
            <a:outerShdw sx="100000" sy="100000" kx="0" ky="0" algn="bl" rotWithShape="0" blurRad="101600" dist="38100" dir="2700000">
              <a:srgbClr val="000000">
                <a:alpha val="12000"/>
              </a:srgbClr>
            </a:outerShdw>
          </a:effectLst>
        </p:spPr>
      </p:sp>
      <p:sp>
        <p:nvSpPr>
          <p:cNvPr id="14" name="Shape 12"/>
          <p:cNvSpPr/>
          <p:nvPr/>
        </p:nvSpPr>
        <p:spPr>
          <a:xfrm>
            <a:off x="8321040" y="1737360"/>
            <a:ext cx="548640" cy="548640"/>
          </a:xfrm>
          <a:prstGeom prst="ellipse">
            <a:avLst/>
          </a:prstGeom>
          <a:solidFill>
            <a:srgbClr val="065A82"/>
          </a:solidFill>
          <a:ln/>
        </p:spPr>
      </p:sp>
      <p:sp>
        <p:nvSpPr>
          <p:cNvPr id="15" name="Text 13"/>
          <p:cNvSpPr/>
          <p:nvPr/>
        </p:nvSpPr>
        <p:spPr>
          <a:xfrm>
            <a:off x="832104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8321040" y="2423160"/>
            <a:ext cx="2880360" cy="54864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So sánh A vs B</a:t>
            </a:r>
            <a:endParaRPr lang="en-US" sz="1700" dirty="0"/>
          </a:p>
        </p:txBody>
      </p:sp>
      <p:sp>
        <p:nvSpPr>
          <p:cNvPr id="17" name="Text 15"/>
          <p:cNvSpPr/>
          <p:nvPr/>
        </p:nvSpPr>
        <p:spPr>
          <a:xfrm>
            <a:off x="8321040" y="2971800"/>
            <a:ext cx="2880360" cy="1005840"/>
          </a:xfrm>
          <a:prstGeom prst="rect">
            <a:avLst/>
          </a:prstGeom>
          <a:noFill/>
          <a:ln/>
        </p:spPr>
        <p:txBody>
          <a:bodyPr wrap="square" lIns="0" tIns="0" rIns="0" bIns="0" rtlCol="0" anchor="ctr"/>
          <a:lstStyle/>
          <a:p>
            <a:pPr indent="0" marL="0">
              <a:buNone/>
            </a:pPr>
            <a:r>
              <a:rPr lang="en-US" sz="1300" dirty="0">
                <a:solidFill>
                  <a:srgbClr val="5B6B79"/>
                </a:solidFill>
                <a:latin typeface="Calibri" pitchFamily="34" charset="0"/>
                <a:ea typeface="Calibri" pitchFamily="34" charset="-122"/>
                <a:cs typeface="Calibri" pitchFamily="34" charset="-120"/>
              </a:rPr>
              <a:t>Exp A giữ stopwords vs Exp B loại stopwords — lỗi khác nhau ở đâu, vì sao.</a:t>
            </a:r>
            <a:endParaRPr lang="en-US" sz="1300" dirty="0"/>
          </a:p>
        </p:txBody>
      </p:sp>
      <p:sp>
        <p:nvSpPr>
          <p:cNvPr id="18" name="Shape 16"/>
          <p:cNvSpPr/>
          <p:nvPr/>
        </p:nvSpPr>
        <p:spPr>
          <a:xfrm>
            <a:off x="548640" y="4343400"/>
            <a:ext cx="11091672" cy="1691640"/>
          </a:xfrm>
          <a:prstGeom prst="roundRect">
            <a:avLst>
              <a:gd name="adj" fmla="val 5405"/>
            </a:avLst>
          </a:prstGeom>
          <a:solidFill>
            <a:srgbClr val="21295C"/>
          </a:solidFill>
          <a:ln/>
          <a:effectLst>
            <a:outerShdw sx="100000" sy="100000" kx="0" ky="0" algn="bl" rotWithShape="0" blurRad="101600" dist="38100" dir="2700000">
              <a:srgbClr val="000000">
                <a:alpha val="12000"/>
              </a:srgbClr>
            </a:outerShdw>
          </a:effectLst>
        </p:spPr>
      </p:sp>
      <p:sp>
        <p:nvSpPr>
          <p:cNvPr id="19" name="Text 17"/>
          <p:cNvSpPr/>
          <p:nvPr/>
        </p:nvSpPr>
        <p:spPr>
          <a:xfrm>
            <a:off x="914400" y="4526280"/>
            <a:ext cx="3657600" cy="365760"/>
          </a:xfrm>
          <a:prstGeom prst="rect">
            <a:avLst/>
          </a:prstGeom>
          <a:noFill/>
          <a:ln/>
        </p:spPr>
        <p:txBody>
          <a:bodyPr wrap="square" lIns="0" tIns="0" rIns="0" bIns="0" rtlCol="0" anchor="ctr"/>
          <a:lstStyle/>
          <a:p>
            <a:pPr indent="0" marL="0">
              <a:buNone/>
            </a:pPr>
            <a:r>
              <a:rPr lang="en-US" sz="1300" b="1" dirty="0">
                <a:solidFill>
                  <a:srgbClr val="3FA796"/>
                </a:solidFill>
                <a:latin typeface="Calibri" pitchFamily="34" charset="0"/>
                <a:ea typeface="Calibri" pitchFamily="34" charset="-122"/>
                <a:cs typeface="Calibri" pitchFamily="34" charset="-120"/>
              </a:rPr>
              <a:t>Nguồn dữ liệu</a:t>
            </a:r>
            <a:endParaRPr lang="en-US" sz="1300" dirty="0"/>
          </a:p>
        </p:txBody>
      </p:sp>
      <p:sp>
        <p:nvSpPr>
          <p:cNvPr id="20" name="Text 18"/>
          <p:cNvSpPr/>
          <p:nvPr/>
        </p:nvSpPr>
        <p:spPr>
          <a:xfrm>
            <a:off x="914400" y="4892040"/>
            <a:ext cx="10332720" cy="1097280"/>
          </a:xfrm>
          <a:prstGeom prst="rect">
            <a:avLst/>
          </a:prstGeom>
          <a:noFill/>
          <a:ln/>
        </p:spPr>
        <p:txBody>
          <a:bodyPr wrap="square" lIns="0" tIns="0" rIns="0" bIns="0" rtlCol="0" anchor="ctr"/>
          <a:lstStyle/>
          <a:p>
            <a:pPr indent="0" marL="0">
              <a:lnSpc>
                <a:spcPct val="130000"/>
              </a:lnSpc>
              <a:buNone/>
            </a:pPr>
            <a:r>
              <a:rPr lang="en-US" sz="1350" dirty="0">
                <a:solidFill>
                  <a:srgbClr val="EAF4F7"/>
                </a:solidFill>
                <a:latin typeface="Calibri" pitchFamily="34" charset="0"/>
                <a:ea typeface="Calibri" pitchFamily="34" charset="-122"/>
                <a:cs typeface="Calibri" pitchFamily="34" charset="-120"/>
              </a:rPr>
              <a:t>data/test/cleaned.csv — 2000 câu có nhãn thật</a:t>
            </a:r>
            <a:endParaRPr lang="en-US" sz="1350" dirty="0"/>
          </a:p>
          <a:p>
            <a:pPr indent="0" marL="0">
              <a:lnSpc>
                <a:spcPct val="130000"/>
              </a:lnSpc>
              <a:buNone/>
            </a:pPr>
            <a:r>
              <a:rPr lang="en-US" sz="1350" dirty="0">
                <a:solidFill>
                  <a:srgbClr val="EAF4F7"/>
                </a:solidFill>
                <a:latin typeface="Calibri" pitchFamily="34" charset="0"/>
                <a:ea typeface="Calibri" pitchFamily="34" charset="-122"/>
                <a:cs typeface="Calibri" pitchFamily="34" charset="-120"/>
              </a:rPr>
              <a:t>models/vocab/pos_vocab.json &amp; neg_vocab.json — 1 bộ vocab dùng chung cho cả Exp A &amp; Exp B (bản classifier mới nhất, đã QA ở Task 7)</a:t>
            </a:r>
            <a:endParaRPr lang="en-US" sz="1350" dirty="0"/>
          </a:p>
        </p:txBody>
      </p:sp>
      <p:sp>
        <p:nvSpPr>
          <p:cNvPr id="21" name="Text 19"/>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Thống kê tổng quan lỗi</a:t>
            </a:r>
            <a:endParaRPr lang="en-US" sz="3200" dirty="0"/>
          </a:p>
        </p:txBody>
      </p:sp>
      <p:sp>
        <p:nvSpPr>
          <p:cNvPr id="3" name="Shape 1"/>
          <p:cNvSpPr/>
          <p:nvPr/>
        </p:nvSpPr>
        <p:spPr>
          <a:xfrm>
            <a:off x="548640" y="1371600"/>
            <a:ext cx="3429000" cy="1417320"/>
          </a:xfrm>
          <a:prstGeom prst="roundRect">
            <a:avLst>
              <a:gd name="adj" fmla="val 7742"/>
            </a:avLst>
          </a:prstGeom>
          <a:solidFill>
            <a:srgbClr val="EAF4F7"/>
          </a:solidFill>
          <a:ln/>
          <a:effectLst>
            <a:outerShdw sx="100000" sy="100000" kx="0" ky="0" algn="bl" rotWithShape="0" blurRad="101600" dist="38100" dir="2700000">
              <a:srgbClr val="000000">
                <a:alpha val="12000"/>
              </a:srgbClr>
            </a:outerShdw>
          </a:effectLst>
        </p:spPr>
      </p:sp>
      <p:sp>
        <p:nvSpPr>
          <p:cNvPr id="4" name="Text 2"/>
          <p:cNvSpPr/>
          <p:nvPr/>
        </p:nvSpPr>
        <p:spPr>
          <a:xfrm>
            <a:off x="777240" y="1481328"/>
            <a:ext cx="2971800" cy="685800"/>
          </a:xfrm>
          <a:prstGeom prst="rect">
            <a:avLst/>
          </a:prstGeom>
          <a:noFill/>
          <a:ln/>
        </p:spPr>
        <p:txBody>
          <a:bodyPr wrap="square" lIns="0" tIns="0" rIns="0" bIns="0" rtlCol="0" anchor="ctr"/>
          <a:lstStyle/>
          <a:p>
            <a:pPr indent="0" marL="0">
              <a:buNone/>
            </a:pPr>
            <a:r>
              <a:rPr lang="en-US" sz="3400" b="1" dirty="0">
                <a:solidFill>
                  <a:srgbClr val="E4572E"/>
                </a:solidFill>
                <a:latin typeface="Cambria" pitchFamily="34" charset="0"/>
                <a:ea typeface="Cambria" pitchFamily="34" charset="-122"/>
                <a:cs typeface="Cambria" pitchFamily="34" charset="-120"/>
              </a:rPr>
              <a:t>51.8%</a:t>
            </a:r>
            <a:endParaRPr lang="en-US" sz="3400" dirty="0"/>
          </a:p>
        </p:txBody>
      </p:sp>
      <p:sp>
        <p:nvSpPr>
          <p:cNvPr id="5" name="Text 3"/>
          <p:cNvSpPr/>
          <p:nvPr/>
        </p:nvSpPr>
        <p:spPr>
          <a:xfrm>
            <a:off x="777240" y="2148840"/>
            <a:ext cx="2971800" cy="54864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Accuracy — Exp A</a:t>
            </a:r>
            <a:endParaRPr lang="en-US" sz="1200" dirty="0"/>
          </a:p>
          <a:p>
            <a:pPr indent="0" marL="0">
              <a:buNone/>
            </a:pPr>
            <a:r>
              <a:rPr lang="en-US" sz="1200" dirty="0">
                <a:solidFill>
                  <a:srgbClr val="5B6B79"/>
                </a:solidFill>
                <a:latin typeface="Calibri" pitchFamily="34" charset="0"/>
                <a:ea typeface="Calibri" pitchFamily="34" charset="-122"/>
                <a:cs typeface="Calibri" pitchFamily="34" charset="-120"/>
              </a:rPr>
              <a:t>(giữ stopwords)</a:t>
            </a:r>
            <a:endParaRPr lang="en-US" sz="1200" dirty="0"/>
          </a:p>
        </p:txBody>
      </p:sp>
      <p:sp>
        <p:nvSpPr>
          <p:cNvPr id="6" name="Shape 4"/>
          <p:cNvSpPr/>
          <p:nvPr/>
        </p:nvSpPr>
        <p:spPr>
          <a:xfrm>
            <a:off x="4297680" y="1371600"/>
            <a:ext cx="3429000" cy="1417320"/>
          </a:xfrm>
          <a:prstGeom prst="roundRect">
            <a:avLst>
              <a:gd name="adj" fmla="val 7742"/>
            </a:avLst>
          </a:prstGeom>
          <a:solidFill>
            <a:srgbClr val="EAF4F7"/>
          </a:solidFill>
          <a:ln/>
          <a:effectLst>
            <a:outerShdw sx="100000" sy="100000" kx="0" ky="0" algn="bl" rotWithShape="0" blurRad="101600" dist="38100" dir="2700000">
              <a:srgbClr val="000000">
                <a:alpha val="12000"/>
              </a:srgbClr>
            </a:outerShdw>
          </a:effectLst>
        </p:spPr>
      </p:sp>
      <p:sp>
        <p:nvSpPr>
          <p:cNvPr id="7" name="Text 5"/>
          <p:cNvSpPr/>
          <p:nvPr/>
        </p:nvSpPr>
        <p:spPr>
          <a:xfrm>
            <a:off x="4526280" y="1481328"/>
            <a:ext cx="2971800" cy="685800"/>
          </a:xfrm>
          <a:prstGeom prst="rect">
            <a:avLst/>
          </a:prstGeom>
          <a:noFill/>
          <a:ln/>
        </p:spPr>
        <p:txBody>
          <a:bodyPr wrap="square" lIns="0" tIns="0" rIns="0" bIns="0" rtlCol="0" anchor="ctr"/>
          <a:lstStyle/>
          <a:p>
            <a:pPr indent="0" marL="0">
              <a:buNone/>
            </a:pPr>
            <a:r>
              <a:rPr lang="en-US" sz="3400" b="1" dirty="0">
                <a:solidFill>
                  <a:srgbClr val="3FA796"/>
                </a:solidFill>
                <a:latin typeface="Cambria" pitchFamily="34" charset="0"/>
                <a:ea typeface="Cambria" pitchFamily="34" charset="-122"/>
                <a:cs typeface="Cambria" pitchFamily="34" charset="-120"/>
              </a:rPr>
              <a:t>55.5%</a:t>
            </a:r>
            <a:endParaRPr lang="en-US" sz="3400" dirty="0"/>
          </a:p>
        </p:txBody>
      </p:sp>
      <p:sp>
        <p:nvSpPr>
          <p:cNvPr id="8" name="Text 6"/>
          <p:cNvSpPr/>
          <p:nvPr/>
        </p:nvSpPr>
        <p:spPr>
          <a:xfrm>
            <a:off x="4526280" y="2148840"/>
            <a:ext cx="2971800" cy="54864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Accuracy — Exp B</a:t>
            </a:r>
            <a:endParaRPr lang="en-US" sz="1200" dirty="0"/>
          </a:p>
          <a:p>
            <a:pPr indent="0" marL="0">
              <a:buNone/>
            </a:pPr>
            <a:r>
              <a:rPr lang="en-US" sz="1200" dirty="0">
                <a:solidFill>
                  <a:srgbClr val="5B6B79"/>
                </a:solidFill>
                <a:latin typeface="Calibri" pitchFamily="34" charset="0"/>
                <a:ea typeface="Calibri" pitchFamily="34" charset="-122"/>
                <a:cs typeface="Calibri" pitchFamily="34" charset="-120"/>
              </a:rPr>
              <a:t>(loại stopwords)</a:t>
            </a:r>
            <a:endParaRPr lang="en-US" sz="1200" dirty="0"/>
          </a:p>
        </p:txBody>
      </p:sp>
      <p:sp>
        <p:nvSpPr>
          <p:cNvPr id="9" name="Shape 7"/>
          <p:cNvSpPr/>
          <p:nvPr/>
        </p:nvSpPr>
        <p:spPr>
          <a:xfrm>
            <a:off x="8046720" y="1371600"/>
            <a:ext cx="3429000" cy="1417320"/>
          </a:xfrm>
          <a:prstGeom prst="roundRect">
            <a:avLst>
              <a:gd name="adj" fmla="val 7742"/>
            </a:avLst>
          </a:prstGeom>
          <a:solidFill>
            <a:srgbClr val="EAF4F7"/>
          </a:solidFill>
          <a:ln/>
          <a:effectLst>
            <a:outerShdw sx="100000" sy="100000" kx="0" ky="0" algn="bl" rotWithShape="0" blurRad="101600" dist="38100" dir="2700000">
              <a:srgbClr val="000000">
                <a:alpha val="12000"/>
              </a:srgbClr>
            </a:outerShdw>
          </a:effectLst>
        </p:spPr>
      </p:sp>
      <p:sp>
        <p:nvSpPr>
          <p:cNvPr id="10" name="Text 8"/>
          <p:cNvSpPr/>
          <p:nvPr/>
        </p:nvSpPr>
        <p:spPr>
          <a:xfrm>
            <a:off x="8275320" y="1481328"/>
            <a:ext cx="2971800"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964 → 890</a:t>
            </a:r>
            <a:endParaRPr lang="en-US" sz="3400" dirty="0"/>
          </a:p>
        </p:txBody>
      </p:sp>
      <p:sp>
        <p:nvSpPr>
          <p:cNvPr id="11" name="Text 9"/>
          <p:cNvSpPr/>
          <p:nvPr/>
        </p:nvSpPr>
        <p:spPr>
          <a:xfrm>
            <a:off x="8275320" y="2148840"/>
            <a:ext cx="2971800" cy="54864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Tổng lỗi giảm</a:t>
            </a:r>
            <a:endParaRPr lang="en-US" sz="1200" dirty="0"/>
          </a:p>
          <a:p>
            <a:pPr indent="0" marL="0">
              <a:buNone/>
            </a:pPr>
            <a:r>
              <a:rPr lang="en-US" sz="1200" dirty="0">
                <a:solidFill>
                  <a:srgbClr val="5B6B79"/>
                </a:solidFill>
                <a:latin typeface="Calibri" pitchFamily="34" charset="0"/>
                <a:ea typeface="Calibri" pitchFamily="34" charset="-122"/>
                <a:cs typeface="Calibri" pitchFamily="34" charset="-120"/>
              </a:rPr>
              <a:t>(2000 câu test)</a:t>
            </a:r>
            <a:endParaRPr lang="en-US" sz="1200" dirty="0"/>
          </a:p>
        </p:txBody>
      </p:sp>
      <p:graphicFrame>
        <p:nvGraphicFramePr>
          <p:cNvPr id="12" name="Chart 0" descr=""/>
          <p:cNvGraphicFramePr/>
          <p:nvPr/>
        </p:nvGraphicFramePr>
        <p:xfrm>
          <a:off x="548640" y="306324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6355080" y="3063240"/>
            <a:ext cx="5303520" cy="3017520"/>
          </a:xfrm>
          <a:prstGeom prst="roundRect">
            <a:avLst>
              <a:gd name="adj" fmla="val 3636"/>
            </a:avLst>
          </a:prstGeom>
          <a:solidFill>
            <a:srgbClr val="21295C"/>
          </a:solidFill>
          <a:ln/>
          <a:effectLst>
            <a:outerShdw sx="100000" sy="100000" kx="0" ky="0" algn="bl" rotWithShape="0" blurRad="101600" dist="38100" dir="2700000">
              <a:srgbClr val="000000">
                <a:alpha val="12000"/>
              </a:srgbClr>
            </a:outerShdw>
          </a:effectLst>
        </p:spPr>
      </p:sp>
      <p:sp>
        <p:nvSpPr>
          <p:cNvPr id="14" name="Text 11"/>
          <p:cNvSpPr/>
          <p:nvPr/>
        </p:nvSpPr>
        <p:spPr>
          <a:xfrm>
            <a:off x="6675120" y="3291840"/>
            <a:ext cx="4663440" cy="365760"/>
          </a:xfrm>
          <a:prstGeom prst="rect">
            <a:avLst/>
          </a:prstGeom>
          <a:noFill/>
          <a:ln/>
        </p:spPr>
        <p:txBody>
          <a:bodyPr wrap="square" lIns="0" tIns="0" rIns="0" bIns="0" rtlCol="0" anchor="ctr"/>
          <a:lstStyle/>
          <a:p>
            <a:pPr indent="0" marL="0">
              <a:buNone/>
            </a:pPr>
            <a:r>
              <a:rPr lang="en-US" sz="1400" b="1" dirty="0">
                <a:solidFill>
                  <a:srgbClr val="3FA796"/>
                </a:solidFill>
                <a:latin typeface="Calibri" pitchFamily="34" charset="0"/>
                <a:ea typeface="Calibri" pitchFamily="34" charset="-122"/>
                <a:cs typeface="Calibri" pitchFamily="34" charset="-120"/>
              </a:rPr>
              <a:t>So sánh tập lỗi A vs B</a:t>
            </a:r>
            <a:endParaRPr lang="en-US" sz="1400" dirty="0"/>
          </a:p>
        </p:txBody>
      </p:sp>
      <p:sp>
        <p:nvSpPr>
          <p:cNvPr id="15" name="Text 12"/>
          <p:cNvSpPr/>
          <p:nvPr/>
        </p:nvSpPr>
        <p:spPr>
          <a:xfrm>
            <a:off x="6675120" y="3840480"/>
            <a:ext cx="46634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861 câu</a:t>
            </a:r>
            <a:endParaRPr lang="en-US" sz="1700" dirty="0"/>
          </a:p>
        </p:txBody>
      </p:sp>
      <p:sp>
        <p:nvSpPr>
          <p:cNvPr id="16" name="Text 13"/>
          <p:cNvSpPr/>
          <p:nvPr/>
        </p:nvSpPr>
        <p:spPr>
          <a:xfrm>
            <a:off x="6675120" y="4206240"/>
            <a:ext cx="4663440" cy="36576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cả A và B cùng sai (lỗi hệ thống)</a:t>
            </a:r>
            <a:endParaRPr lang="en-US" sz="1250" dirty="0"/>
          </a:p>
        </p:txBody>
      </p:sp>
      <p:sp>
        <p:nvSpPr>
          <p:cNvPr id="17" name="Text 14"/>
          <p:cNvSpPr/>
          <p:nvPr/>
        </p:nvSpPr>
        <p:spPr>
          <a:xfrm>
            <a:off x="6675120" y="4617720"/>
            <a:ext cx="4663440" cy="365760"/>
          </a:xfrm>
          <a:prstGeom prst="rect">
            <a:avLst/>
          </a:prstGeom>
          <a:noFill/>
          <a:ln/>
        </p:spPr>
        <p:txBody>
          <a:bodyPr wrap="square" lIns="0" tIns="0" rIns="0" bIns="0" rtlCol="0" anchor="ctr"/>
          <a:lstStyle/>
          <a:p>
            <a:pPr indent="0" marL="0">
              <a:buNone/>
            </a:pPr>
            <a:r>
              <a:rPr lang="en-US" sz="1700" b="1" dirty="0">
                <a:solidFill>
                  <a:srgbClr val="3FA796"/>
                </a:solidFill>
                <a:latin typeface="Calibri" pitchFamily="34" charset="0"/>
                <a:ea typeface="Calibri" pitchFamily="34" charset="-122"/>
                <a:cs typeface="Calibri" pitchFamily="34" charset="-120"/>
              </a:rPr>
              <a:t>103 câu</a:t>
            </a:r>
            <a:endParaRPr lang="en-US" sz="1700" dirty="0"/>
          </a:p>
        </p:txBody>
      </p:sp>
      <p:sp>
        <p:nvSpPr>
          <p:cNvPr id="18" name="Text 15"/>
          <p:cNvSpPr/>
          <p:nvPr/>
        </p:nvSpPr>
        <p:spPr>
          <a:xfrm>
            <a:off x="6675120" y="4983480"/>
            <a:ext cx="4663440" cy="36576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chỉ A sai — B sửa được</a:t>
            </a:r>
            <a:endParaRPr lang="en-US" sz="1250" dirty="0"/>
          </a:p>
        </p:txBody>
      </p:sp>
      <p:sp>
        <p:nvSpPr>
          <p:cNvPr id="19" name="Text 16"/>
          <p:cNvSpPr/>
          <p:nvPr/>
        </p:nvSpPr>
        <p:spPr>
          <a:xfrm>
            <a:off x="6675120" y="5394960"/>
            <a:ext cx="4663440" cy="365760"/>
          </a:xfrm>
          <a:prstGeom prst="rect">
            <a:avLst/>
          </a:prstGeom>
          <a:noFill/>
          <a:ln/>
        </p:spPr>
        <p:txBody>
          <a:bodyPr wrap="square" lIns="0" tIns="0" rIns="0" bIns="0" rtlCol="0" anchor="ctr"/>
          <a:lstStyle/>
          <a:p>
            <a:pPr indent="0" marL="0">
              <a:buNone/>
            </a:pPr>
            <a:r>
              <a:rPr lang="en-US" sz="1700" b="1" dirty="0">
                <a:solidFill>
                  <a:srgbClr val="E4572E"/>
                </a:solidFill>
                <a:latin typeface="Calibri" pitchFamily="34" charset="0"/>
                <a:ea typeface="Calibri" pitchFamily="34" charset="-122"/>
                <a:cs typeface="Calibri" pitchFamily="34" charset="-120"/>
              </a:rPr>
              <a:t>29 câu</a:t>
            </a:r>
            <a:endParaRPr lang="en-US" sz="1700" dirty="0"/>
          </a:p>
        </p:txBody>
      </p:sp>
      <p:sp>
        <p:nvSpPr>
          <p:cNvPr id="20" name="Text 17"/>
          <p:cNvSpPr/>
          <p:nvPr/>
        </p:nvSpPr>
        <p:spPr>
          <a:xfrm>
            <a:off x="6675120" y="5760720"/>
            <a:ext cx="4663440" cy="36576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chỉ B sai — B tạo lỗi mới</a:t>
            </a:r>
            <a:endParaRPr lang="en-US" sz="1250" dirty="0"/>
          </a:p>
        </p:txBody>
      </p:sp>
      <p:sp>
        <p:nvSpPr>
          <p:cNvPr id="21" name="Text 18"/>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Lỗi lệch gần như tuyệt đối về một hướng</a:t>
            </a:r>
            <a:endParaRPr lang="en-US" sz="3000" dirty="0"/>
          </a:p>
        </p:txBody>
      </p:sp>
      <p:sp>
        <p:nvSpPr>
          <p:cNvPr id="3" name="Text 1"/>
          <p:cNvSpPr/>
          <p:nvPr/>
        </p:nvSpPr>
        <p:spPr>
          <a:xfrm>
            <a:off x="548640" y="1051560"/>
            <a:ext cx="10972800" cy="457200"/>
          </a:xfrm>
          <a:prstGeom prst="rect">
            <a:avLst/>
          </a:prstGeom>
          <a:noFill/>
          <a:ln/>
        </p:spPr>
        <p:txBody>
          <a:bodyPr wrap="square" lIns="0" tIns="0" rIns="0" bIns="0" rtlCol="0" anchor="ctr"/>
          <a:lstStyle/>
          <a:p>
            <a:pPr indent="0" marL="0">
              <a:buNone/>
            </a:pPr>
            <a:r>
              <a:rPr lang="en-US" sz="1500" dirty="0">
                <a:solidFill>
                  <a:srgbClr val="5B6B79"/>
                </a:solidFill>
                <a:latin typeface="Calibri" pitchFamily="34" charset="0"/>
                <a:ea typeface="Calibri" pitchFamily="34" charset="-122"/>
                <a:cs typeface="Calibri" pitchFamily="34" charset="-120"/>
              </a:rPr>
              <a:t>Model gần như luôn đoán “Positive” — kể cả với câu phê bình rõ ràng</a:t>
            </a:r>
            <a:endParaRPr lang="en-US" sz="1500" dirty="0"/>
          </a:p>
        </p:txBody>
      </p:sp>
      <p:graphicFrame>
        <p:nvGraphicFramePr>
          <p:cNvPr id="4" name="Chart 0" descr=""/>
          <p:cNvGraphicFramePr/>
          <p:nvPr/>
        </p:nvGraphicFramePr>
        <p:xfrm>
          <a:off x="548640" y="1645920"/>
          <a:ext cx="420624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892040" y="1645920"/>
          <a:ext cx="4206240" cy="40233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9281160" y="1645920"/>
            <a:ext cx="2377440" cy="4023360"/>
          </a:xfrm>
          <a:prstGeom prst="roundRect">
            <a:avLst>
              <a:gd name="adj" fmla="val 4615"/>
            </a:avLst>
          </a:prstGeom>
          <a:solidFill>
            <a:srgbClr val="EAF4F7"/>
          </a:solidFill>
          <a:ln/>
          <a:effectLst>
            <a:outerShdw sx="100000" sy="100000" kx="0" ky="0" algn="bl" rotWithShape="0" blurRad="101600" dist="38100" dir="2700000">
              <a:srgbClr val="000000">
                <a:alpha val="12000"/>
              </a:srgbClr>
            </a:outerShdw>
          </a:effectLst>
        </p:spPr>
      </p:sp>
      <p:sp>
        <p:nvSpPr>
          <p:cNvPr id="7" name="Text 3"/>
          <p:cNvSpPr/>
          <p:nvPr/>
        </p:nvSpPr>
        <p:spPr>
          <a:xfrm>
            <a:off x="9509760" y="1920240"/>
            <a:ext cx="1920240" cy="640080"/>
          </a:xfrm>
          <a:prstGeom prst="rect">
            <a:avLst/>
          </a:prstGeom>
          <a:noFill/>
          <a:ln/>
        </p:spPr>
        <p:txBody>
          <a:bodyPr wrap="square" lIns="0" tIns="0" rIns="0" bIns="0" rtlCol="0" anchor="ctr"/>
          <a:lstStyle/>
          <a:p>
            <a:pPr algn="ctr" indent="0" marL="0">
              <a:buNone/>
            </a:pPr>
            <a:r>
              <a:rPr lang="en-US" sz="3200" b="1" dirty="0">
                <a:solidFill>
                  <a:srgbClr val="E4572E"/>
                </a:solidFill>
                <a:latin typeface="Cambria" pitchFamily="34" charset="0"/>
                <a:ea typeface="Cambria" pitchFamily="34" charset="-122"/>
                <a:cs typeface="Cambria" pitchFamily="34" charset="-120"/>
              </a:rPr>
              <a:t>99%</a:t>
            </a:r>
            <a:endParaRPr lang="en-US" sz="3200" dirty="0"/>
          </a:p>
        </p:txBody>
      </p:sp>
      <p:sp>
        <p:nvSpPr>
          <p:cNvPr id="8" name="Text 4"/>
          <p:cNvSpPr/>
          <p:nvPr/>
        </p:nvSpPr>
        <p:spPr>
          <a:xfrm>
            <a:off x="9509760" y="2560320"/>
            <a:ext cx="1920240" cy="640080"/>
          </a:xfrm>
          <a:prstGeom prst="rect">
            <a:avLst/>
          </a:prstGeom>
          <a:noFill/>
          <a:ln/>
        </p:spPr>
        <p:txBody>
          <a:bodyPr wrap="square" lIns="0" tIns="0" rIns="0" bIns="0" rtlCol="0" anchor="ctr"/>
          <a:lstStyle/>
          <a:p>
            <a:pPr algn="ctr" indent="0" marL="0">
              <a:buNone/>
            </a:pPr>
            <a:r>
              <a:rPr lang="en-US" sz="1200" dirty="0">
                <a:solidFill>
                  <a:srgbClr val="5B6B79"/>
                </a:solidFill>
                <a:latin typeface="Calibri" pitchFamily="34" charset="0"/>
                <a:ea typeface="Calibri" pitchFamily="34" charset="-122"/>
                <a:cs typeface="Calibri" pitchFamily="34" charset="-120"/>
              </a:rPr>
              <a:t>lỗi ở Exp A là</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Neg→Pos</a:t>
            </a:r>
            <a:endParaRPr lang="en-US" sz="1200" dirty="0"/>
          </a:p>
        </p:txBody>
      </p:sp>
      <p:sp>
        <p:nvSpPr>
          <p:cNvPr id="9" name="Text 5"/>
          <p:cNvSpPr/>
          <p:nvPr/>
        </p:nvSpPr>
        <p:spPr>
          <a:xfrm>
            <a:off x="9509760" y="3383280"/>
            <a:ext cx="1920240" cy="640080"/>
          </a:xfrm>
          <a:prstGeom prst="rect">
            <a:avLst/>
          </a:prstGeom>
          <a:noFill/>
          <a:ln/>
        </p:spPr>
        <p:txBody>
          <a:bodyPr wrap="square" lIns="0" tIns="0" rIns="0" bIns="0" rtlCol="0" anchor="ctr"/>
          <a:lstStyle/>
          <a:p>
            <a:pPr algn="ctr" indent="0" marL="0">
              <a:buNone/>
            </a:pPr>
            <a:r>
              <a:rPr lang="en-US" sz="3200" b="1" dirty="0">
                <a:solidFill>
                  <a:srgbClr val="E4572E"/>
                </a:solidFill>
                <a:latin typeface="Cambria" pitchFamily="34" charset="0"/>
                <a:ea typeface="Cambria" pitchFamily="34" charset="-122"/>
                <a:cs typeface="Cambria" pitchFamily="34" charset="-120"/>
              </a:rPr>
              <a:t>97%</a:t>
            </a:r>
            <a:endParaRPr lang="en-US" sz="3200" dirty="0"/>
          </a:p>
        </p:txBody>
      </p:sp>
      <p:sp>
        <p:nvSpPr>
          <p:cNvPr id="10" name="Text 6"/>
          <p:cNvSpPr/>
          <p:nvPr/>
        </p:nvSpPr>
        <p:spPr>
          <a:xfrm>
            <a:off x="9509760" y="4023360"/>
            <a:ext cx="1920240" cy="640080"/>
          </a:xfrm>
          <a:prstGeom prst="rect">
            <a:avLst/>
          </a:prstGeom>
          <a:noFill/>
          <a:ln/>
        </p:spPr>
        <p:txBody>
          <a:bodyPr wrap="square" lIns="0" tIns="0" rIns="0" bIns="0" rtlCol="0" anchor="ctr"/>
          <a:lstStyle/>
          <a:p>
            <a:pPr algn="ctr" indent="0" marL="0">
              <a:buNone/>
            </a:pPr>
            <a:r>
              <a:rPr lang="en-US" sz="1200" dirty="0">
                <a:solidFill>
                  <a:srgbClr val="5B6B79"/>
                </a:solidFill>
                <a:latin typeface="Calibri" pitchFamily="34" charset="0"/>
                <a:ea typeface="Calibri" pitchFamily="34" charset="-122"/>
                <a:cs typeface="Calibri" pitchFamily="34" charset="-120"/>
              </a:rPr>
              <a:t>lỗi ở Exp B là</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Neg→Pos</a:t>
            </a:r>
            <a:endParaRPr lang="en-US" sz="1200" dirty="0"/>
          </a:p>
        </p:txBody>
      </p:sp>
      <p:sp>
        <p:nvSpPr>
          <p:cNvPr id="11" name="Text 7"/>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Top 3 pattern lỗi phổ biến nhất</a:t>
            </a:r>
            <a:endParaRPr lang="en-US" sz="3000" dirty="0"/>
          </a:p>
        </p:txBody>
      </p:sp>
      <p:sp>
        <p:nvSpPr>
          <p:cNvPr id="3" name="Shape 1"/>
          <p:cNvSpPr/>
          <p:nvPr/>
        </p:nvSpPr>
        <p:spPr>
          <a:xfrm>
            <a:off x="548640" y="1143000"/>
            <a:ext cx="11091672" cy="1572768"/>
          </a:xfrm>
          <a:prstGeom prst="roundRect">
            <a:avLst>
              <a:gd name="adj" fmla="val 5814"/>
            </a:avLst>
          </a:prstGeom>
          <a:solidFill>
            <a:srgbClr val="EAF4F7"/>
          </a:solidFill>
          <a:ln/>
          <a:effectLst>
            <a:outerShdw sx="100000" sy="100000" kx="0" ky="0" algn="bl" rotWithShape="0" blurRad="101600" dist="38100" dir="2700000">
              <a:srgbClr val="000000">
                <a:alpha val="12000"/>
              </a:srgbClr>
            </a:outerShdw>
          </a:effectLst>
        </p:spPr>
      </p:sp>
      <p:sp>
        <p:nvSpPr>
          <p:cNvPr id="4" name="Shape 2"/>
          <p:cNvSpPr/>
          <p:nvPr/>
        </p:nvSpPr>
        <p:spPr>
          <a:xfrm>
            <a:off x="548640" y="1143000"/>
            <a:ext cx="2103120" cy="1572768"/>
          </a:xfrm>
          <a:prstGeom prst="rect">
            <a:avLst/>
          </a:prstGeom>
          <a:solidFill>
            <a:srgbClr val="E4572E"/>
          </a:solidFill>
          <a:ln/>
        </p:spPr>
      </p:sp>
      <p:sp>
        <p:nvSpPr>
          <p:cNvPr id="5" name="Text 3"/>
          <p:cNvSpPr/>
          <p:nvPr/>
        </p:nvSpPr>
        <p:spPr>
          <a:xfrm>
            <a:off x="685800" y="1645920"/>
            <a:ext cx="18288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C1 · 693/964 lỗi (A)</a:t>
            </a:r>
            <a:endParaRPr lang="en-US" sz="1300" dirty="0"/>
          </a:p>
        </p:txBody>
      </p:sp>
      <p:sp>
        <p:nvSpPr>
          <p:cNvPr id="6" name="Text 4"/>
          <p:cNvSpPr/>
          <p:nvPr/>
        </p:nvSpPr>
        <p:spPr>
          <a:xfrm>
            <a:off x="2788920" y="1252728"/>
            <a:ext cx="8686800" cy="4114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Negation chỉ đảo dấu đúng 1 token kế tiếp</a:t>
            </a:r>
            <a:endParaRPr lang="en-US" sz="1550" dirty="0"/>
          </a:p>
        </p:txBody>
      </p:sp>
      <p:sp>
        <p:nvSpPr>
          <p:cNvPr id="7" name="Text 5"/>
          <p:cNvSpPr/>
          <p:nvPr/>
        </p:nvSpPr>
        <p:spPr>
          <a:xfrm>
            <a:off x="2788920" y="1673352"/>
            <a:ext cx="8686800" cy="45720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“giáo viên dạy chưa tốt .” → điểm +2 → Positive (sai)</a:t>
            </a:r>
            <a:endParaRPr lang="en-US" sz="1250" dirty="0"/>
          </a:p>
        </p:txBody>
      </p:sp>
      <p:sp>
        <p:nvSpPr>
          <p:cNvPr id="8" name="Text 6"/>
          <p:cNvSpPr/>
          <p:nvPr/>
        </p:nvSpPr>
        <p:spPr>
          <a:xfrm>
            <a:off x="2788920" y="2148840"/>
            <a:ext cx="86868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“chưa” và “tốt” đều nằm trong danh sách tự-đảo-dấu, không đảo đúng từ cảm xúc thật.</a:t>
            </a:r>
            <a:endParaRPr lang="en-US" sz="1150" dirty="0"/>
          </a:p>
        </p:txBody>
      </p:sp>
      <p:sp>
        <p:nvSpPr>
          <p:cNvPr id="9" name="Shape 7"/>
          <p:cNvSpPr/>
          <p:nvPr/>
        </p:nvSpPr>
        <p:spPr>
          <a:xfrm>
            <a:off x="548640" y="2880360"/>
            <a:ext cx="11091672" cy="1572768"/>
          </a:xfrm>
          <a:prstGeom prst="roundRect">
            <a:avLst>
              <a:gd name="adj" fmla="val 5814"/>
            </a:avLst>
          </a:prstGeom>
          <a:solidFill>
            <a:srgbClr val="EAF4F7"/>
          </a:solidFill>
          <a:ln/>
          <a:effectLst>
            <a:outerShdw sx="100000" sy="100000" kx="0" ky="0" algn="bl" rotWithShape="0" blurRad="101600" dist="38100" dir="2700000">
              <a:srgbClr val="000000">
                <a:alpha val="12000"/>
              </a:srgbClr>
            </a:outerShdw>
          </a:effectLst>
        </p:spPr>
      </p:sp>
      <p:sp>
        <p:nvSpPr>
          <p:cNvPr id="10" name="Shape 8"/>
          <p:cNvSpPr/>
          <p:nvPr/>
        </p:nvSpPr>
        <p:spPr>
          <a:xfrm>
            <a:off x="548640" y="2880360"/>
            <a:ext cx="2103120" cy="1572768"/>
          </a:xfrm>
          <a:prstGeom prst="rect">
            <a:avLst/>
          </a:prstGeom>
          <a:solidFill>
            <a:srgbClr val="065A82"/>
          </a:solidFill>
          <a:ln/>
        </p:spPr>
      </p:sp>
      <p:sp>
        <p:nvSpPr>
          <p:cNvPr id="11" name="Text 9"/>
          <p:cNvSpPr/>
          <p:nvPr/>
        </p:nvSpPr>
        <p:spPr>
          <a:xfrm>
            <a:off x="685800" y="3383280"/>
            <a:ext cx="18288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C4 · 192/964 lỗi (A)</a:t>
            </a:r>
            <a:endParaRPr lang="en-US" sz="1300" dirty="0"/>
          </a:p>
        </p:txBody>
      </p:sp>
      <p:sp>
        <p:nvSpPr>
          <p:cNvPr id="12" name="Text 10"/>
          <p:cNvSpPr/>
          <p:nvPr/>
        </p:nvSpPr>
        <p:spPr>
          <a:xfrm>
            <a:off x="2788920" y="2990088"/>
            <a:ext cx="8686800" cy="4114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Từ học thuật trung tính lọt vào pos_vocab</a:t>
            </a:r>
            <a:endParaRPr lang="en-US" sz="1550" dirty="0"/>
          </a:p>
        </p:txBody>
      </p:sp>
      <p:sp>
        <p:nvSpPr>
          <p:cNvPr id="13" name="Text 11"/>
          <p:cNvSpPr/>
          <p:nvPr/>
        </p:nvSpPr>
        <p:spPr>
          <a:xfrm>
            <a:off x="2788920" y="3410712"/>
            <a:ext cx="8686800" cy="45720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“cơ sở vật chất còn ảnh hưởng đến chất lượng môn học .” → +1 → Positive (sai)</a:t>
            </a:r>
            <a:endParaRPr lang="en-US" sz="1250" dirty="0"/>
          </a:p>
        </p:txBody>
      </p:sp>
      <p:sp>
        <p:nvSpPr>
          <p:cNvPr id="14" name="Text 12"/>
          <p:cNvSpPr/>
          <p:nvPr/>
        </p:nvSpPr>
        <p:spPr>
          <a:xfrm>
            <a:off x="2788920" y="3886200"/>
            <a:ext cx="86868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“chất lượng, năng lực, nội dung” nằm trong pos_vocab dù câu là phê bình.</a:t>
            </a:r>
            <a:endParaRPr lang="en-US" sz="1150" dirty="0"/>
          </a:p>
        </p:txBody>
      </p:sp>
      <p:sp>
        <p:nvSpPr>
          <p:cNvPr id="15" name="Shape 13"/>
          <p:cNvSpPr/>
          <p:nvPr/>
        </p:nvSpPr>
        <p:spPr>
          <a:xfrm>
            <a:off x="548640" y="4617720"/>
            <a:ext cx="11091672" cy="1572768"/>
          </a:xfrm>
          <a:prstGeom prst="roundRect">
            <a:avLst>
              <a:gd name="adj" fmla="val 5814"/>
            </a:avLst>
          </a:prstGeom>
          <a:solidFill>
            <a:srgbClr val="EAF4F7"/>
          </a:solidFill>
          <a:ln/>
          <a:effectLst>
            <a:outerShdw sx="100000" sy="100000" kx="0" ky="0" algn="bl" rotWithShape="0" blurRad="101600" dist="38100" dir="2700000">
              <a:srgbClr val="000000">
                <a:alpha val="12000"/>
              </a:srgbClr>
            </a:outerShdw>
          </a:effectLst>
        </p:spPr>
      </p:sp>
      <p:sp>
        <p:nvSpPr>
          <p:cNvPr id="16" name="Shape 14"/>
          <p:cNvSpPr/>
          <p:nvPr/>
        </p:nvSpPr>
        <p:spPr>
          <a:xfrm>
            <a:off x="548640" y="4617720"/>
            <a:ext cx="2103120" cy="1572768"/>
          </a:xfrm>
          <a:prstGeom prst="rect">
            <a:avLst/>
          </a:prstGeom>
          <a:solidFill>
            <a:srgbClr val="1C7293"/>
          </a:solidFill>
          <a:ln/>
        </p:spPr>
      </p:sp>
      <p:sp>
        <p:nvSpPr>
          <p:cNvPr id="17" name="Text 15"/>
          <p:cNvSpPr/>
          <p:nvPr/>
        </p:nvSpPr>
        <p:spPr>
          <a:xfrm>
            <a:off x="685800" y="5120640"/>
            <a:ext cx="18288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C2 · 69/964 lỗi (A)</a:t>
            </a:r>
            <a:endParaRPr lang="en-US" sz="1300" dirty="0"/>
          </a:p>
        </p:txBody>
      </p:sp>
      <p:sp>
        <p:nvSpPr>
          <p:cNvPr id="18" name="Text 16"/>
          <p:cNvSpPr/>
          <p:nvPr/>
        </p:nvSpPr>
        <p:spPr>
          <a:xfrm>
            <a:off x="2788920" y="4727448"/>
            <a:ext cx="8686800" cy="4114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Cấu trúc nhượng bộ “tuy...nhưng”</a:t>
            </a:r>
            <a:endParaRPr lang="en-US" sz="1550" dirty="0"/>
          </a:p>
        </p:txBody>
      </p:sp>
      <p:sp>
        <p:nvSpPr>
          <p:cNvPr id="19" name="Text 17"/>
          <p:cNvSpPr/>
          <p:nvPr/>
        </p:nvSpPr>
        <p:spPr>
          <a:xfrm>
            <a:off x="2788920" y="5148072"/>
            <a:ext cx="8686800" cy="457200"/>
          </a:xfrm>
          <a:prstGeom prst="rect">
            <a:avLst/>
          </a:prstGeom>
          <a:noFill/>
          <a:ln/>
        </p:spPr>
        <p:txBody>
          <a:bodyPr wrap="square" lIns="0" tIns="0" rIns="0" bIns="0" rtlCol="0" anchor="ctr"/>
          <a:lstStyle/>
          <a:p>
            <a:pPr indent="0" marL="0">
              <a:buNone/>
            </a:pPr>
            <a:r>
              <a:rPr lang="en-US" sz="1250" i="1" dirty="0">
                <a:solidFill>
                  <a:srgbClr val="5B6B79"/>
                </a:solidFill>
                <a:latin typeface="Calibri" pitchFamily="34" charset="0"/>
                <a:ea typeface="Calibri" pitchFamily="34" charset="-122"/>
                <a:cs typeface="Calibri" pitchFamily="34" charset="-120"/>
              </a:rPr>
              <a:t>“...khá nhiệt tình, tuy nhiên lý thuyết...còn hay nhầm lẫn...” → +10 → Positive (sai)</a:t>
            </a:r>
            <a:endParaRPr lang="en-US" sz="1250" dirty="0"/>
          </a:p>
        </p:txBody>
      </p:sp>
      <p:sp>
        <p:nvSpPr>
          <p:cNvPr id="20" name="Text 18"/>
          <p:cNvSpPr/>
          <p:nvPr/>
        </p:nvSpPr>
        <p:spPr>
          <a:xfrm>
            <a:off x="2788920" y="5623560"/>
            <a:ext cx="8686800" cy="4572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Model cộng điểm cả 2 vế, không nhận ra vế sau “nhưng” mới là ý chính.</a:t>
            </a:r>
            <a:endParaRPr lang="en-US" sz="1150" dirty="0"/>
          </a:p>
        </p:txBody>
      </p:sp>
      <p:sp>
        <p:nvSpPr>
          <p:cNvPr id="21" name="Text 19"/>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9436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Loại stopwords: con dao hai lưỡi</a:t>
            </a:r>
            <a:endParaRPr lang="en-US" sz="3000" dirty="0"/>
          </a:p>
        </p:txBody>
      </p:sp>
      <p:sp>
        <p:nvSpPr>
          <p:cNvPr id="3" name="Text 1"/>
          <p:cNvSpPr/>
          <p:nvPr/>
        </p:nvSpPr>
        <p:spPr>
          <a:xfrm>
            <a:off x="548640" y="960120"/>
            <a:ext cx="10972800" cy="457200"/>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Vì negation chỉ đảo dấu theo VỊ TRÍ token, xoá stopword có thể vô tình sửa lỗi cũ — hoặc tạo lỗi mới</a:t>
            </a:r>
            <a:endParaRPr lang="en-US" sz="1400" dirty="0"/>
          </a:p>
        </p:txBody>
      </p:sp>
      <p:sp>
        <p:nvSpPr>
          <p:cNvPr id="4" name="Text 2"/>
          <p:cNvSpPr/>
          <p:nvPr/>
        </p:nvSpPr>
        <p:spPr>
          <a:xfrm>
            <a:off x="548640" y="1600200"/>
            <a:ext cx="10972800" cy="41148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“Cô dạy hay và rất nhiệt tình .” — nhãn thật: Positive</a:t>
            </a:r>
            <a:endParaRPr lang="en-US" sz="1500" dirty="0"/>
          </a:p>
        </p:txBody>
      </p:sp>
      <p:sp>
        <p:nvSpPr>
          <p:cNvPr id="5" name="Shape 3"/>
          <p:cNvSpPr/>
          <p:nvPr/>
        </p:nvSpPr>
        <p:spPr>
          <a:xfrm>
            <a:off x="548640" y="2148840"/>
            <a:ext cx="11091672" cy="1417320"/>
          </a:xfrm>
          <a:prstGeom prst="roundRect">
            <a:avLst>
              <a:gd name="adj" fmla="val 6452"/>
            </a:avLst>
          </a:prstGeom>
          <a:solidFill>
            <a:srgbClr val="EAF4F7"/>
          </a:solidFill>
          <a:ln/>
          <a:effectLst>
            <a:outerShdw sx="100000" sy="100000" kx="0" ky="0" algn="bl" rotWithShape="0" blurRad="101600" dist="38100" dir="2700000">
              <a:srgbClr val="000000">
                <a:alpha val="12000"/>
              </a:srgbClr>
            </a:outerShdw>
          </a:effectLst>
        </p:spPr>
      </p:sp>
      <p:sp>
        <p:nvSpPr>
          <p:cNvPr id="6" name="Text 4"/>
          <p:cNvSpPr/>
          <p:nvPr/>
        </p:nvSpPr>
        <p:spPr>
          <a:xfrm>
            <a:off x="822960" y="2331720"/>
            <a:ext cx="365760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Exp A (giữ stopwords)</a:t>
            </a:r>
            <a:endParaRPr lang="en-US" sz="1300" dirty="0"/>
          </a:p>
        </p:txBody>
      </p:sp>
      <p:sp>
        <p:nvSpPr>
          <p:cNvPr id="7" name="Text 5"/>
          <p:cNvSpPr/>
          <p:nvPr/>
        </p:nvSpPr>
        <p:spPr>
          <a:xfrm>
            <a:off x="822960" y="2697480"/>
            <a:ext cx="7315200" cy="365760"/>
          </a:xfrm>
          <a:prstGeom prst="rect">
            <a:avLst/>
          </a:prstGeom>
          <a:noFill/>
          <a:ln/>
        </p:spPr>
        <p:txBody>
          <a:bodyPr wrap="square" lIns="0" tIns="0" rIns="0" bIns="0" rtlCol="0" anchor="ctr"/>
          <a:lstStyle/>
          <a:p>
            <a:pPr indent="0" marL="0">
              <a:buNone/>
            </a:pPr>
            <a:r>
              <a:rPr lang="en-US" sz="1300" dirty="0">
                <a:solidFill>
                  <a:srgbClr val="5B6B79"/>
                </a:solidFill>
                <a:latin typeface="Courier New" pitchFamily="34" charset="0"/>
                <a:ea typeface="Courier New" pitchFamily="34" charset="-122"/>
                <a:cs typeface="Courier New" pitchFamily="34" charset="-120"/>
              </a:rPr>
              <a:t>cô · dạy · hay · và · rất · nhiệt_tình · .</a:t>
            </a:r>
            <a:endParaRPr lang="en-US" sz="1300" dirty="0"/>
          </a:p>
        </p:txBody>
      </p:sp>
      <p:sp>
        <p:nvSpPr>
          <p:cNvPr id="8" name="Text 6"/>
          <p:cNvSpPr/>
          <p:nvPr/>
        </p:nvSpPr>
        <p:spPr>
          <a:xfrm>
            <a:off x="822960" y="3108960"/>
            <a:ext cx="5486400" cy="365760"/>
          </a:xfrm>
          <a:prstGeom prst="rect">
            <a:avLst/>
          </a:prstGeom>
          <a:noFill/>
          <a:ln/>
        </p:spPr>
        <p:txBody>
          <a:bodyPr wrap="square" lIns="0" tIns="0" rIns="0" bIns="0" rtlCol="0" anchor="ctr"/>
          <a:lstStyle/>
          <a:p>
            <a:pPr indent="0" marL="0">
              <a:buNone/>
            </a:pPr>
            <a:r>
              <a:rPr lang="en-US" sz="1500" b="1" dirty="0">
                <a:solidFill>
                  <a:srgbClr val="21295C"/>
                </a:solidFill>
              </a:rPr>
              <a:t>score = +2  →  </a:t>
            </a:r>
            <a:pPr indent="0" marL="0">
              <a:buNone/>
            </a:pPr>
            <a:r>
              <a:rPr lang="en-US" sz="1500" b="1" dirty="0">
                <a:solidFill>
                  <a:srgbClr val="3FA796"/>
                </a:solidFill>
              </a:rPr>
              <a:t>Positive ✓</a:t>
            </a:r>
            <a:endParaRPr lang="en-US" sz="1500" dirty="0"/>
          </a:p>
        </p:txBody>
      </p:sp>
      <p:sp>
        <p:nvSpPr>
          <p:cNvPr id="9" name="Text 7"/>
          <p:cNvSpPr/>
          <p:nvPr/>
        </p:nvSpPr>
        <p:spPr>
          <a:xfrm>
            <a:off x="6035040" y="3108960"/>
            <a:ext cx="5394960" cy="365760"/>
          </a:xfrm>
          <a:prstGeom prst="rect">
            <a:avLst/>
          </a:prstGeom>
          <a:noFill/>
          <a:ln/>
        </p:spPr>
        <p:txBody>
          <a:bodyPr wrap="square" lIns="0" tIns="0" rIns="0" bIns="0" rtlCol="0" anchor="ctr"/>
          <a:lstStyle/>
          <a:p>
            <a:pPr indent="0" marL="0">
              <a:buNone/>
            </a:pPr>
            <a:r>
              <a:rPr lang="en-US" sz="1150" i="1" dirty="0">
                <a:solidFill>
                  <a:srgbClr val="5B6B79"/>
                </a:solidFill>
                <a:latin typeface="Calibri" pitchFamily="34" charset="0"/>
                <a:ea typeface="Calibri" pitchFamily="34" charset="-122"/>
                <a:cs typeface="Calibri" pitchFamily="34" charset="-120"/>
              </a:rPr>
              <a:t>“và” chen giữa “hay” và “rất” làm chuỗi đảo dấu không chạm tới “nhiệt_tình”</a:t>
            </a:r>
            <a:endParaRPr lang="en-US" sz="1150" dirty="0"/>
          </a:p>
        </p:txBody>
      </p:sp>
      <p:sp>
        <p:nvSpPr>
          <p:cNvPr id="10" name="Shape 8"/>
          <p:cNvSpPr/>
          <p:nvPr/>
        </p:nvSpPr>
        <p:spPr>
          <a:xfrm>
            <a:off x="548640" y="3794760"/>
            <a:ext cx="11091672" cy="1417320"/>
          </a:xfrm>
          <a:prstGeom prst="roundRect">
            <a:avLst>
              <a:gd name="adj" fmla="val 6452"/>
            </a:avLst>
          </a:prstGeom>
          <a:solidFill>
            <a:srgbClr val="FCEEEA"/>
          </a:solidFill>
          <a:ln/>
          <a:effectLst>
            <a:outerShdw sx="100000" sy="100000" kx="0" ky="0" algn="bl" rotWithShape="0" blurRad="101600" dist="38100" dir="2700000">
              <a:srgbClr val="000000">
                <a:alpha val="12000"/>
              </a:srgbClr>
            </a:outerShdw>
          </a:effectLst>
        </p:spPr>
      </p:sp>
      <p:sp>
        <p:nvSpPr>
          <p:cNvPr id="11" name="Text 9"/>
          <p:cNvSpPr/>
          <p:nvPr/>
        </p:nvSpPr>
        <p:spPr>
          <a:xfrm>
            <a:off x="822960" y="3977640"/>
            <a:ext cx="3657600"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Exp B (loại stopwords)</a:t>
            </a:r>
            <a:endParaRPr lang="en-US" sz="1300" dirty="0"/>
          </a:p>
        </p:txBody>
      </p:sp>
      <p:sp>
        <p:nvSpPr>
          <p:cNvPr id="12" name="Text 10"/>
          <p:cNvSpPr/>
          <p:nvPr/>
        </p:nvSpPr>
        <p:spPr>
          <a:xfrm>
            <a:off x="822960" y="4343400"/>
            <a:ext cx="7315200" cy="365760"/>
          </a:xfrm>
          <a:prstGeom prst="rect">
            <a:avLst/>
          </a:prstGeom>
          <a:noFill/>
          <a:ln/>
        </p:spPr>
        <p:txBody>
          <a:bodyPr wrap="square" lIns="0" tIns="0" rIns="0" bIns="0" rtlCol="0" anchor="ctr"/>
          <a:lstStyle/>
          <a:p>
            <a:pPr indent="0" marL="0">
              <a:buNone/>
            </a:pPr>
            <a:r>
              <a:rPr lang="en-US" sz="1300" dirty="0">
                <a:solidFill>
                  <a:srgbClr val="5B6B79"/>
                </a:solidFill>
                <a:latin typeface="Courier New" pitchFamily="34" charset="0"/>
                <a:ea typeface="Courier New" pitchFamily="34" charset="-122"/>
                <a:cs typeface="Courier New" pitchFamily="34" charset="-120"/>
              </a:rPr>
              <a:t>dạy · hay · rất · nhiệt_tình · .</a:t>
            </a:r>
            <a:endParaRPr lang="en-US" sz="1300" dirty="0"/>
          </a:p>
        </p:txBody>
      </p:sp>
      <p:sp>
        <p:nvSpPr>
          <p:cNvPr id="13" name="Text 11"/>
          <p:cNvSpPr/>
          <p:nvPr/>
        </p:nvSpPr>
        <p:spPr>
          <a:xfrm>
            <a:off x="822960" y="4754880"/>
            <a:ext cx="5486400" cy="365760"/>
          </a:xfrm>
          <a:prstGeom prst="rect">
            <a:avLst/>
          </a:prstGeom>
          <a:noFill/>
          <a:ln/>
        </p:spPr>
        <p:txBody>
          <a:bodyPr wrap="square" lIns="0" tIns="0" rIns="0" bIns="0" rtlCol="0" anchor="ctr"/>
          <a:lstStyle/>
          <a:p>
            <a:pPr indent="0" marL="0">
              <a:buNone/>
            </a:pPr>
            <a:r>
              <a:rPr lang="en-US" sz="1500" b="1" dirty="0">
                <a:solidFill>
                  <a:srgbClr val="21295C"/>
                </a:solidFill>
              </a:rPr>
              <a:t>score = 0  →  </a:t>
            </a:r>
            <a:pPr indent="0" marL="0">
              <a:buNone/>
            </a:pPr>
            <a:r>
              <a:rPr lang="en-US" sz="1500" b="1" dirty="0">
                <a:solidFill>
                  <a:srgbClr val="E4572E"/>
                </a:solidFill>
              </a:rPr>
              <a:t>Negative ✗</a:t>
            </a:r>
            <a:endParaRPr lang="en-US" sz="1500" dirty="0"/>
          </a:p>
        </p:txBody>
      </p:sp>
      <p:sp>
        <p:nvSpPr>
          <p:cNvPr id="14" name="Text 12"/>
          <p:cNvSpPr/>
          <p:nvPr/>
        </p:nvSpPr>
        <p:spPr>
          <a:xfrm>
            <a:off x="6035040" y="4754880"/>
            <a:ext cx="5394960" cy="365760"/>
          </a:xfrm>
          <a:prstGeom prst="rect">
            <a:avLst/>
          </a:prstGeom>
          <a:noFill/>
          <a:ln/>
        </p:spPr>
        <p:txBody>
          <a:bodyPr wrap="square" lIns="0" tIns="0" rIns="0" bIns="0" rtlCol="0" anchor="ctr"/>
          <a:lstStyle/>
          <a:p>
            <a:pPr indent="0" marL="0">
              <a:buNone/>
            </a:pPr>
            <a:r>
              <a:rPr lang="en-US" sz="1150" i="1" dirty="0">
                <a:solidFill>
                  <a:srgbClr val="5B6B79"/>
                </a:solidFill>
                <a:latin typeface="Calibri" pitchFamily="34" charset="0"/>
                <a:ea typeface="Calibri" pitchFamily="34" charset="-122"/>
                <a:cs typeface="Calibri" pitchFamily="34" charset="-120"/>
              </a:rPr>
              <a:t>Xoá “và” đẩy “rất” sát “nhiệt_tình” → chuỗi đảo dấu liên hoàn triệt tiêu điểm dương</a:t>
            </a:r>
            <a:endParaRPr lang="en-US" sz="1150" dirty="0"/>
          </a:p>
        </p:txBody>
      </p:sp>
      <p:sp>
        <p:nvSpPr>
          <p:cNvPr id="15" name="Text 13"/>
          <p:cNvSpPr/>
          <p:nvPr/>
        </p:nvSpPr>
        <p:spPr>
          <a:xfrm>
            <a:off x="548640" y="5440680"/>
            <a:ext cx="11064240" cy="822960"/>
          </a:xfrm>
          <a:prstGeom prst="rect">
            <a:avLst/>
          </a:prstGeom>
          <a:noFill/>
          <a:ln/>
        </p:spPr>
        <p:txBody>
          <a:bodyPr wrap="square" lIns="0" tIns="0" rIns="0" bIns="0" rtlCol="0" anchor="ctr"/>
          <a:lstStyle/>
          <a:p>
            <a:pPr indent="0" marL="0">
              <a:buNone/>
            </a:pPr>
            <a:r>
              <a:rPr lang="en-US" sz="1300" i="1" dirty="0">
                <a:solidFill>
                  <a:srgbClr val="21295C"/>
                </a:solidFill>
                <a:latin typeface="Calibri" pitchFamily="34" charset="0"/>
                <a:ea typeface="Calibri" pitchFamily="34" charset="-122"/>
                <a:cs typeface="Calibri" pitchFamily="34" charset="-120"/>
              </a:rPr>
              <a:t>→ 74/103 lợi ích đo được của việc loại stopwords là tác dụng phụ của việc dịch chuyển vị trí token, không hẳn do bản thân từ dừng mang nhiễu.</a:t>
            </a:r>
            <a:endParaRPr lang="en-US" sz="1300" dirty="0"/>
          </a:p>
        </p:txBody>
      </p:sp>
      <p:sp>
        <p:nvSpPr>
          <p:cNvPr id="16" name="Text 14"/>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Đề xuất cải thiện</a:t>
            </a:r>
            <a:endParaRPr lang="en-US" sz="3200" dirty="0"/>
          </a:p>
        </p:txBody>
      </p:sp>
      <p:sp>
        <p:nvSpPr>
          <p:cNvPr id="3" name="Shape 1"/>
          <p:cNvSpPr/>
          <p:nvPr/>
        </p:nvSpPr>
        <p:spPr>
          <a:xfrm>
            <a:off x="548640" y="1188720"/>
            <a:ext cx="5349240" cy="2057400"/>
          </a:xfrm>
          <a:prstGeom prst="roundRect">
            <a:avLst>
              <a:gd name="adj" fmla="val 5333"/>
            </a:avLst>
          </a:prstGeom>
          <a:solidFill>
            <a:srgbClr val="2B3570"/>
          </a:solidFill>
          <a:ln/>
        </p:spPr>
      </p:sp>
      <p:sp>
        <p:nvSpPr>
          <p:cNvPr id="4" name="Shape 2"/>
          <p:cNvSpPr/>
          <p:nvPr/>
        </p:nvSpPr>
        <p:spPr>
          <a:xfrm>
            <a:off x="868680" y="1463040"/>
            <a:ext cx="502920" cy="502920"/>
          </a:xfrm>
          <a:prstGeom prst="ellipse">
            <a:avLst/>
          </a:prstGeom>
          <a:solidFill>
            <a:srgbClr val="3FA796"/>
          </a:solidFill>
          <a:ln/>
        </p:spPr>
      </p:sp>
      <p:sp>
        <p:nvSpPr>
          <p:cNvPr id="5" name="Text 3"/>
          <p:cNvSpPr/>
          <p:nvPr/>
        </p:nvSpPr>
        <p:spPr>
          <a:xfrm>
            <a:off x="868680" y="1463040"/>
            <a:ext cx="502920" cy="502920"/>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54480" y="1417320"/>
            <a:ext cx="40690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Mở rộng phạm vi negation ra 2–3 token</a:t>
            </a:r>
            <a:endParaRPr lang="en-US" sz="1500" dirty="0"/>
          </a:p>
        </p:txBody>
      </p:sp>
      <p:sp>
        <p:nvSpPr>
          <p:cNvPr id="7" name="Text 5"/>
          <p:cNvSpPr/>
          <p:nvPr/>
        </p:nvSpPr>
        <p:spPr>
          <a:xfrm>
            <a:off x="868680" y="2240280"/>
            <a:ext cx="4709160" cy="91440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Tách negator thật (không, chưa...) khỏi intensifier/từ cảm xúc đang bị gộp chung trong protected.txt.</a:t>
            </a:r>
            <a:endParaRPr lang="en-US" sz="1250" dirty="0"/>
          </a:p>
        </p:txBody>
      </p:sp>
      <p:sp>
        <p:nvSpPr>
          <p:cNvPr id="8" name="Shape 6"/>
          <p:cNvSpPr/>
          <p:nvPr/>
        </p:nvSpPr>
        <p:spPr>
          <a:xfrm>
            <a:off x="6263640" y="1188720"/>
            <a:ext cx="5349240" cy="2057400"/>
          </a:xfrm>
          <a:prstGeom prst="roundRect">
            <a:avLst>
              <a:gd name="adj" fmla="val 5333"/>
            </a:avLst>
          </a:prstGeom>
          <a:solidFill>
            <a:srgbClr val="2B3570"/>
          </a:solidFill>
          <a:ln/>
        </p:spPr>
      </p:sp>
      <p:sp>
        <p:nvSpPr>
          <p:cNvPr id="9" name="Shape 7"/>
          <p:cNvSpPr/>
          <p:nvPr/>
        </p:nvSpPr>
        <p:spPr>
          <a:xfrm>
            <a:off x="6583680" y="1463040"/>
            <a:ext cx="502920" cy="502920"/>
          </a:xfrm>
          <a:prstGeom prst="ellipse">
            <a:avLst/>
          </a:prstGeom>
          <a:solidFill>
            <a:srgbClr val="3FA796"/>
          </a:solidFill>
          <a:ln/>
        </p:spPr>
      </p:sp>
      <p:sp>
        <p:nvSpPr>
          <p:cNvPr id="10" name="Text 8"/>
          <p:cNvSpPr/>
          <p:nvPr/>
        </p:nvSpPr>
        <p:spPr>
          <a:xfrm>
            <a:off x="6583680" y="1463040"/>
            <a:ext cx="502920" cy="502920"/>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7269480" y="1417320"/>
            <a:ext cx="40690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Làm sạch lại pos_vocab</a:t>
            </a:r>
            <a:endParaRPr lang="en-US" sz="1500" dirty="0"/>
          </a:p>
        </p:txBody>
      </p:sp>
      <p:sp>
        <p:nvSpPr>
          <p:cNvPr id="12" name="Text 10"/>
          <p:cNvSpPr/>
          <p:nvPr/>
        </p:nvSpPr>
        <p:spPr>
          <a:xfrm>
            <a:off x="6583680" y="2240280"/>
            <a:ext cx="4709160" cy="91440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Loại từ học thuật trung tính (kiến thức, chất lượng, năng lực...) + thêm lexicon critique-word có trọng số âm.</a:t>
            </a:r>
            <a:endParaRPr lang="en-US" sz="1250" dirty="0"/>
          </a:p>
        </p:txBody>
      </p:sp>
      <p:sp>
        <p:nvSpPr>
          <p:cNvPr id="13" name="Shape 11"/>
          <p:cNvSpPr/>
          <p:nvPr/>
        </p:nvSpPr>
        <p:spPr>
          <a:xfrm>
            <a:off x="548640" y="3520440"/>
            <a:ext cx="5349240" cy="2057400"/>
          </a:xfrm>
          <a:prstGeom prst="roundRect">
            <a:avLst>
              <a:gd name="adj" fmla="val 5333"/>
            </a:avLst>
          </a:prstGeom>
          <a:solidFill>
            <a:srgbClr val="2B3570"/>
          </a:solidFill>
          <a:ln/>
        </p:spPr>
      </p:sp>
      <p:sp>
        <p:nvSpPr>
          <p:cNvPr id="14" name="Shape 12"/>
          <p:cNvSpPr/>
          <p:nvPr/>
        </p:nvSpPr>
        <p:spPr>
          <a:xfrm>
            <a:off x="868680" y="3794760"/>
            <a:ext cx="502920" cy="502920"/>
          </a:xfrm>
          <a:prstGeom prst="ellipse">
            <a:avLst/>
          </a:prstGeom>
          <a:solidFill>
            <a:srgbClr val="3FA796"/>
          </a:solidFill>
          <a:ln/>
        </p:spPr>
      </p:sp>
      <p:sp>
        <p:nvSpPr>
          <p:cNvPr id="15" name="Text 13"/>
          <p:cNvSpPr/>
          <p:nvPr/>
        </p:nvSpPr>
        <p:spPr>
          <a:xfrm>
            <a:off x="868680" y="3794760"/>
            <a:ext cx="502920" cy="502920"/>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554480" y="3749040"/>
            <a:ext cx="40690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Xử lý câu “tuy...nhưng”</a:t>
            </a:r>
            <a:endParaRPr lang="en-US" sz="1500" dirty="0"/>
          </a:p>
        </p:txBody>
      </p:sp>
      <p:sp>
        <p:nvSpPr>
          <p:cNvPr id="17" name="Text 15"/>
          <p:cNvSpPr/>
          <p:nvPr/>
        </p:nvSpPr>
        <p:spPr>
          <a:xfrm>
            <a:off x="868680" y="4572000"/>
            <a:ext cx="4709160" cy="91440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Ưu tiên tính điểm vế câu SAU liên từ nhượng bộ — chiếm 60-70 lỗi mỗi cấu hình.</a:t>
            </a:r>
            <a:endParaRPr lang="en-US" sz="1250" dirty="0"/>
          </a:p>
        </p:txBody>
      </p:sp>
      <p:sp>
        <p:nvSpPr>
          <p:cNvPr id="18" name="Shape 16"/>
          <p:cNvSpPr/>
          <p:nvPr/>
        </p:nvSpPr>
        <p:spPr>
          <a:xfrm>
            <a:off x="6263640" y="3520440"/>
            <a:ext cx="5349240" cy="2057400"/>
          </a:xfrm>
          <a:prstGeom prst="roundRect">
            <a:avLst>
              <a:gd name="adj" fmla="val 5333"/>
            </a:avLst>
          </a:prstGeom>
          <a:solidFill>
            <a:srgbClr val="2B3570"/>
          </a:solidFill>
          <a:ln/>
        </p:spPr>
      </p:sp>
      <p:sp>
        <p:nvSpPr>
          <p:cNvPr id="19" name="Shape 17"/>
          <p:cNvSpPr/>
          <p:nvPr/>
        </p:nvSpPr>
        <p:spPr>
          <a:xfrm>
            <a:off x="6583680" y="3794760"/>
            <a:ext cx="502920" cy="502920"/>
          </a:xfrm>
          <a:prstGeom prst="ellipse">
            <a:avLst/>
          </a:prstGeom>
          <a:solidFill>
            <a:srgbClr val="3FA796"/>
          </a:solidFill>
          <a:ln/>
        </p:spPr>
      </p:sp>
      <p:sp>
        <p:nvSpPr>
          <p:cNvPr id="20" name="Text 18"/>
          <p:cNvSpPr/>
          <p:nvPr/>
        </p:nvSpPr>
        <p:spPr>
          <a:xfrm>
            <a:off x="6583680" y="3794760"/>
            <a:ext cx="502920" cy="502920"/>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7269480" y="3749040"/>
            <a:ext cx="406908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Tách negation ra khỏi việc lọc stopword</a:t>
            </a:r>
            <a:endParaRPr lang="en-US" sz="1500" dirty="0"/>
          </a:p>
        </p:txBody>
      </p:sp>
      <p:sp>
        <p:nvSpPr>
          <p:cNvPr id="22" name="Text 20"/>
          <p:cNvSpPr/>
          <p:nvPr/>
        </p:nvSpPr>
        <p:spPr>
          <a:xfrm>
            <a:off x="6583680" y="4572000"/>
            <a:ext cx="4709160" cy="914400"/>
          </a:xfrm>
          <a:prstGeom prst="rect">
            <a:avLst/>
          </a:prstGeom>
          <a:noFill/>
          <a:ln/>
        </p:spPr>
        <p:txBody>
          <a:bodyPr wrap="square" lIns="0" tIns="0" rIns="0" bIns="0" rtlCol="0" anchor="ctr"/>
          <a:lstStyle/>
          <a:p>
            <a:pPr indent="0" marL="0">
              <a:buNone/>
            </a:pPr>
            <a:r>
              <a:rPr lang="en-US" sz="1250" dirty="0">
                <a:solidFill>
                  <a:srgbClr val="EAF4F7"/>
                </a:solidFill>
                <a:latin typeface="Calibri" pitchFamily="34" charset="0"/>
                <a:ea typeface="Calibri" pitchFamily="34" charset="-122"/>
                <a:cs typeface="Calibri" pitchFamily="34" charset="-120"/>
              </a:rPr>
              <a:t>Tính vị trí đảo dấu trên token GỐC trước khi loại stopword, tránh đổi kết quả ngẫu nhiên.</a:t>
            </a:r>
            <a:endParaRPr lang="en-US" sz="1250" dirty="0"/>
          </a:p>
        </p:txBody>
      </p:sp>
      <p:sp>
        <p:nvSpPr>
          <p:cNvPr id="23" name="Shape 21"/>
          <p:cNvSpPr/>
          <p:nvPr/>
        </p:nvSpPr>
        <p:spPr>
          <a:xfrm>
            <a:off x="548640" y="5760720"/>
            <a:ext cx="11091672" cy="594360"/>
          </a:xfrm>
          <a:prstGeom prst="roundRect">
            <a:avLst>
              <a:gd name="adj" fmla="val 15385"/>
            </a:avLst>
          </a:prstGeom>
          <a:solidFill>
            <a:srgbClr val="3FA796"/>
          </a:solidFill>
          <a:ln/>
        </p:spPr>
      </p:sp>
      <p:sp>
        <p:nvSpPr>
          <p:cNvPr id="24" name="Text 22"/>
          <p:cNvSpPr/>
          <p:nvPr/>
        </p:nvSpPr>
        <p:spPr>
          <a:xfrm>
            <a:off x="822960" y="5760720"/>
            <a:ext cx="10515600" cy="594360"/>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Ưu tiên #1 + #2 trước: giải quyết ~885/964 lỗi (92%) đang đo được ở Exp A</a:t>
            </a:r>
            <a:endParaRPr lang="en-US" sz="1450" dirty="0"/>
          </a:p>
        </p:txBody>
      </p:sp>
      <p:sp>
        <p:nvSpPr>
          <p:cNvPr id="25" name="Text 23"/>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Kết luận</a:t>
            </a:r>
            <a:endParaRPr lang="en-US" sz="3200" dirty="0"/>
          </a:p>
        </p:txBody>
      </p:sp>
      <p:sp>
        <p:nvSpPr>
          <p:cNvPr id="3" name="Shape 1"/>
          <p:cNvSpPr/>
          <p:nvPr/>
        </p:nvSpPr>
        <p:spPr>
          <a:xfrm>
            <a:off x="548640" y="1371600"/>
            <a:ext cx="11091672" cy="4480560"/>
          </a:xfrm>
          <a:prstGeom prst="roundRect">
            <a:avLst>
              <a:gd name="adj" fmla="val 2449"/>
            </a:avLst>
          </a:prstGeom>
          <a:solidFill>
            <a:srgbClr val="EAF4F7"/>
          </a:solidFill>
          <a:ln/>
          <a:effectLst>
            <a:outerShdw sx="100000" sy="100000" kx="0" ky="0" algn="bl" rotWithShape="0" blurRad="101600" dist="38100" dir="2700000">
              <a:srgbClr val="000000">
                <a:alpha val="12000"/>
              </a:srgbClr>
            </a:outerShdw>
          </a:effectLst>
        </p:spPr>
      </p:sp>
      <p:sp>
        <p:nvSpPr>
          <p:cNvPr id="4" name="Text 2"/>
          <p:cNvSpPr/>
          <p:nvPr/>
        </p:nvSpPr>
        <p:spPr>
          <a:xfrm>
            <a:off x="914400" y="1691640"/>
            <a:ext cx="10332720" cy="1828800"/>
          </a:xfrm>
          <a:prstGeom prst="rect">
            <a:avLst/>
          </a:prstGeom>
          <a:noFill/>
          <a:ln/>
        </p:spPr>
        <p:txBody>
          <a:bodyPr wrap="square" lIns="0" tIns="0" rIns="0" bIns="0" rtlCol="0" anchor="ctr"/>
          <a:lstStyle/>
          <a:p>
            <a:pPr indent="0" marL="0">
              <a:lnSpc>
                <a:spcPct val="135000"/>
              </a:lnSpc>
              <a:buNone/>
            </a:pPr>
            <a:r>
              <a:rPr lang="en-US" sz="1600" dirty="0">
                <a:solidFill>
                  <a:srgbClr val="21295C"/>
                </a:solidFill>
                <a:latin typeface="Calibri" pitchFamily="34" charset="0"/>
                <a:ea typeface="Calibri" pitchFamily="34" charset="-122"/>
                <a:cs typeface="Calibri" pitchFamily="34" charset="-120"/>
              </a:rPr>
              <a:t>Loại stopwords giúp </a:t>
            </a:r>
            <a:pPr indent="0" marL="0">
              <a:lnSpc>
                <a:spcPct val="135000"/>
              </a:lnSpc>
              <a:buNone/>
            </a:pPr>
            <a:r>
              <a:rPr lang="en-US" sz="1600" b="1" dirty="0">
                <a:solidFill>
                  <a:srgbClr val="3FA796"/>
                </a:solidFill>
                <a:latin typeface="Calibri" pitchFamily="34" charset="0"/>
                <a:ea typeface="Calibri" pitchFamily="34" charset="-122"/>
                <a:cs typeface="Calibri" pitchFamily="34" charset="-120"/>
              </a:rPr>
              <a:t>giảm lỗi ròng (964 → 890)</a:t>
            </a:r>
            <a:pPr indent="0" marL="0">
              <a:lnSpc>
                <a:spcPct val="135000"/>
              </a:lnSpc>
              <a:buNone/>
            </a:pPr>
            <a:r>
              <a:rPr lang="en-US" sz="1600" dirty="0">
                <a:solidFill>
                  <a:srgbClr val="21295C"/>
                </a:solidFill>
                <a:latin typeface="Calibri" pitchFamily="34" charset="0"/>
                <a:ea typeface="Calibri" pitchFamily="34" charset="-122"/>
                <a:cs typeface="Calibri" pitchFamily="34" charset="-120"/>
              </a:rPr>
              <a:t>, chủ yếu bằng cách giảm False Positive — nhưng làm </a:t>
            </a:r>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False Negative tăng gấp 3 lần (10 → 30)</a:t>
            </a:r>
            <a:pPr indent="0" marL="0">
              <a:lnSpc>
                <a:spcPct val="135000"/>
              </a:lnSpc>
              <a:buNone/>
            </a:pPr>
            <a:r>
              <a:rPr lang="en-US" sz="1600" dirty="0">
                <a:solidFill>
                  <a:srgbClr val="21295C"/>
                </a:solidFill>
                <a:latin typeface="Calibri" pitchFamily="34" charset="0"/>
                <a:ea typeface="Calibri" pitchFamily="34" charset="-122"/>
                <a:cs typeface="Calibri" pitchFamily="34" charset="-120"/>
              </a:rPr>
              <a:t> và vẫn còn </a:t>
            </a:r>
            <a:pPr indent="0" marL="0">
              <a:lnSpc>
                <a:spcPct val="135000"/>
              </a:lnSpc>
              <a:buNone/>
            </a:pPr>
            <a:r>
              <a:rPr lang="en-US" sz="1600" b="1" dirty="0">
                <a:solidFill>
                  <a:srgbClr val="065A82"/>
                </a:solidFill>
                <a:latin typeface="Calibri" pitchFamily="34" charset="0"/>
                <a:ea typeface="Calibri" pitchFamily="34" charset="-122"/>
                <a:cs typeface="Calibri" pitchFamily="34" charset="-120"/>
              </a:rPr>
              <a:t>861 lỗi hệ thống </a:t>
            </a:r>
            <a:pPr indent="0" marL="0">
              <a:lnSpc>
                <a:spcPct val="135000"/>
              </a:lnSpc>
              <a:buNone/>
            </a:pPr>
            <a:r>
              <a:rPr lang="en-US" sz="1600" dirty="0">
                <a:solidFill>
                  <a:srgbClr val="21295C"/>
                </a:solidFill>
                <a:latin typeface="Calibri" pitchFamily="34" charset="0"/>
                <a:ea typeface="Calibri" pitchFamily="34" charset="-122"/>
                <a:cs typeface="Calibri" pitchFamily="34" charset="-120"/>
              </a:rPr>
              <a:t>không liên quan đến stopwords (vocab thiếu, negation phạm vi hẹp, câu nhượng bộ).</a:t>
            </a:r>
            <a:endParaRPr lang="en-US" sz="1600" dirty="0"/>
          </a:p>
        </p:txBody>
      </p:sp>
      <p:sp>
        <p:nvSpPr>
          <p:cNvPr id="5" name="Shape 3"/>
          <p:cNvSpPr/>
          <p:nvPr/>
        </p:nvSpPr>
        <p:spPr>
          <a:xfrm>
            <a:off x="914400" y="3657600"/>
            <a:ext cx="10332720" cy="0"/>
          </a:xfrm>
          <a:prstGeom prst="line">
            <a:avLst/>
          </a:prstGeom>
          <a:noFill/>
          <a:ln w="12700">
            <a:solidFill>
              <a:srgbClr val="D3DCE6"/>
            </a:solidFill>
            <a:prstDash val="solid"/>
          </a:ln>
        </p:spPr>
      </p:sp>
      <p:sp>
        <p:nvSpPr>
          <p:cNvPr id="6" name="Text 4"/>
          <p:cNvSpPr/>
          <p:nvPr/>
        </p:nvSpPr>
        <p:spPr>
          <a:xfrm>
            <a:off x="914400" y="3886200"/>
            <a:ext cx="10332720" cy="548640"/>
          </a:xfrm>
          <a:prstGeom prst="rect">
            <a:avLst/>
          </a:prstGeom>
          <a:noFill/>
          <a:ln/>
        </p:spPr>
        <p:txBody>
          <a:bodyPr wrap="square" lIns="0" tIns="0" rIns="0" bIns="0" rtlCol="0" anchor="ctr"/>
          <a:lstStyle/>
          <a:p>
            <a:pPr indent="0" marL="0">
              <a:buNone/>
            </a:pPr>
            <a:r>
              <a:rPr lang="en-US" sz="1600" b="1" i="1" dirty="0">
                <a:solidFill>
                  <a:srgbClr val="21295C"/>
                </a:solidFill>
                <a:latin typeface="Calibri" pitchFamily="34" charset="0"/>
                <a:ea typeface="Calibri" pitchFamily="34" charset="-122"/>
                <a:cs typeface="Calibri" pitchFamily="34" charset="-120"/>
              </a:rPr>
              <a:t>Trước khi kết luận “loại stopwords hiệu quả hơn”, cần fix negation + vocab trước.</a:t>
            </a:r>
            <a:endParaRPr lang="en-US" sz="1600" dirty="0"/>
          </a:p>
        </p:txBody>
      </p:sp>
      <p:sp>
        <p:nvSpPr>
          <p:cNvPr id="7" name="Text 5"/>
          <p:cNvSpPr/>
          <p:nvPr/>
        </p:nvSpPr>
        <p:spPr>
          <a:xfrm>
            <a:off x="914400" y="4663440"/>
            <a:ext cx="10332720" cy="457200"/>
          </a:xfrm>
          <a:prstGeom prst="rect">
            <a:avLst/>
          </a:prstGeom>
          <a:noFill/>
          <a:ln/>
        </p:spPr>
        <p:txBody>
          <a:bodyPr wrap="square" lIns="0" tIns="0" rIns="0" bIns="0" rtlCol="0" anchor="ctr"/>
          <a:lstStyle/>
          <a:p>
            <a:pPr indent="0" marL="0">
              <a:buNone/>
            </a:pPr>
            <a:r>
              <a:rPr lang="en-US" sz="1250" dirty="0">
                <a:solidFill>
                  <a:srgbClr val="5B6B79"/>
                </a:solidFill>
                <a:latin typeface="Courier New" pitchFamily="34" charset="0"/>
                <a:ea typeface="Courier New" pitchFamily="34" charset="-122"/>
                <a:cs typeface="Courier New" pitchFamily="34" charset="-120"/>
              </a:rPr>
              <a:t>File đầu ra: docs/error_analysis_exp_a.csv · docs/error_analysis_exp_b.csv · docs/error_analysis_report.md</a:t>
            </a:r>
            <a:endParaRPr lang="en-US" sz="1250" dirty="0"/>
          </a:p>
        </p:txBody>
      </p:sp>
      <p:sp>
        <p:nvSpPr>
          <p:cNvPr id="8" name="Text 6"/>
          <p:cNvSpPr/>
          <p:nvPr/>
        </p:nvSpPr>
        <p:spPr>
          <a:xfrm>
            <a:off x="914400" y="5212080"/>
            <a:ext cx="10332720" cy="45720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Mục tiêu tiếp theo: accuracy &gt; 75% và loại bỏ bias Neg→Pos trước khi chấp nhận kết luận A/B test.</a:t>
            </a:r>
            <a:endParaRPr lang="en-US" sz="1300" dirty="0"/>
          </a:p>
        </p:txBody>
      </p:sp>
      <p:sp>
        <p:nvSpPr>
          <p:cNvPr id="9" name="Text 7"/>
          <p:cNvSpPr/>
          <p:nvPr/>
        </p:nvSpPr>
        <p:spPr>
          <a:xfrm>
            <a:off x="0" y="6492240"/>
            <a:ext cx="12188952" cy="274320"/>
          </a:xfrm>
          <a:prstGeom prst="rect">
            <a:avLst/>
          </a:prstGeom>
          <a:noFill/>
          <a:ln/>
        </p:spPr>
        <p:txBody>
          <a:bodyPr wrap="square" lIns="1905" tIns="1905" rIns="1905" bIns="1905"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Task 11 · Error Analysis  |  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11 - Error Analysis</dc:title>
  <dc:subject>PptxGenJS Presentation</dc:subject>
  <dc:creator>Tam Tran</dc:creator>
  <cp:lastModifiedBy>Tam Tran</cp:lastModifiedBy>
  <cp:revision>1</cp:revision>
  <dcterms:created xsi:type="dcterms:W3CDTF">2026-07-01T14:44:01Z</dcterms:created>
  <dcterms:modified xsi:type="dcterms:W3CDTF">2026-07-01T14:44:01Z</dcterms:modified>
</cp:coreProperties>
</file>