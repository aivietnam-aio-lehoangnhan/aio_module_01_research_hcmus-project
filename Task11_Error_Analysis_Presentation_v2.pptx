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FP / FN tại threshold tốt nhất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 Positive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Exp A</c:v>
                  </c:pt>
                  <c:pt idx="1">
                    <c:v>Exp 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731</c:v>
                </c:pt>
                <c:pt idx="1">
                  <c:v>351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False Negative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Exp A</c:v>
                  </c:pt>
                  <c:pt idx="1">
                    <c:v>Exp B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64</c:v>
                </c:pt>
                <c:pt idx="1">
                  <c:v>207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này trình bày phần Error Analysis của Task 11 trên nhánh pipeline: chạy run_pipeline.py, và stress-test classifier bằng 2000 câu khó tự sinh.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mạnh: đây là classifier của nhánh pipeline (có negation window, intensifier, critique word), khác bản đơn giản trên main. Số liệu trong deck lấy trực tiếp từ run_pipeline.py.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lấy trực tiếp từ run_pipeline.py: exp_a 0.6025 (CM [[269,731],[64,936]]), exp_b 0.721 (CM [[649,351],[207,793]]). Kết luận: có bias over-predict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nhóm bẫy tương ứng các pattern lỗi đã phát hiện. Generator seed=42 nên tái lập được. File: data/test/hard_cases_2000.csv.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khó kéo accuracy xuống và tái hiện đúng bias: FP vẫn áp đảo. Nhượng bộ và phủ định kép là 2 nhóm khó nhất.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token-by-token bằng chính classifier (Exp A, threshold 2.0). 3 ví dụ thật khớp clf.get_score.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nguyên nhân gốc giải thích cả lỗi trên test thường lẫn câu khó. Negation window và concessive là 2 nhóm lớn nhất.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đề xuất; nhấn mạnh dùng 2000 câu khó như regression suite mỗi lần sửa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Chốt: pipeline ổn, stopwords có ích nhưng chưa đủ; nút thắt thực sự là negation + concessive. Bộ câu khó dùng để đo tiến bộ sau khi sửa.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 · ERROR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lỗi &amp; Stress-test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với 2000 câu khó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pipeline run_pipeline.py trên tập câu được thiết kế để “bẫy” mô hình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A (giữ stopwords)</a:t>
            </a:r>
            <a:pPr indent="0" marL="0">
              <a:buNone/>
            </a:pPr>
            <a:r>
              <a:rPr lang="en-US" sz="140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14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B (loại stopwords)</a:t>
            </a:r>
            <a:pPr indent="0" marL="0">
              <a:buNone/>
            </a:pPr>
            <a:r>
              <a:rPr lang="en-US" sz="140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~5 phút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&amp; phương pháp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pipeline thật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chính run_pipeline.py: build vocab → clean vocab → threshold search cho Exp A &amp; Exp 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2000 câu khó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971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sinh câu bẫy (phủ định, nhượng bộ, góp ý…) với nhãn biết chắc theo cấu trúc.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&amp; mổ lỗi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kết quả trên test thường vs câu khó, tách FP/FN, tìm pattern lỗi.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trên nhánh này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pos/neg vocab + negation window + intensifier (rất, quá, hơi) + critique word (nên, cần, thiếu)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phân loại: score ≥ threshold → Positive; threshold tối ưu chọn bằng accuracy qua 9 mức.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 · Error Analysis · run_pipeline.py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trên tập test thường (2000 câu)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356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60.3%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Exp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 2.0)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3258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26280" y="14356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72.1%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26280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Exp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 2.0)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3258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75320" y="14356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+11.8đ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75320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stopwords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accuracy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3017520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355080" y="3017520"/>
            <a:ext cx="5303520" cy="3063240"/>
          </a:xfrm>
          <a:prstGeom prst="roundRect">
            <a:avLst>
              <a:gd name="adj" fmla="val 3582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3246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75120" y="37033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over-predict “Positive”: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A có 731 FP so với chỉ 64 FN.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675120" y="461772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stopwords kéo FP xuống 351 nhưng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đẩy FN tăng 64 → 207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bias vẫn còn.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 · Error Analysis · run_pipeline.py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 câu khó — bẫy đúng điểm yếu của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được sinh từ template nên nhãn thật biết chắc, nhưng thiết kế để phá logic rule-based · cân bằng 1000/1000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92224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55448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Phủ định đảo chiều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394960" y="155448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“thầy dạy không hay” → Negative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724912"/>
            <a:ext cx="365760" cy="36576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487168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Phủ định kép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94960" y="248716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“không hề nhàm chán” → Positive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6576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419856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Nhượng bộ tuy…nhưng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94960" y="3419856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“tuy hơi khó nhưng rất bổ ích” → Positive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59028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352544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góp ý / phê bình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94960" y="435254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“nên bổ sung thêm ví dụ” → Negative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5229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285232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Bẫy từ trung tính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394960" y="528523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“nội dung còn sơ sài, thiếu chiều sâu” → Negative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 · Error Analysis · run_pipeline.py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stress-test trên 2000 câu khó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47672"/>
                <a:gridCol w="1920240"/>
                <a:gridCol w="1965960"/>
                <a:gridCol w="1965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hình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Negative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A (giữ stopwords)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B (loại stopwords)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điển hình model đoán SAI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36118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CEEE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(Neg → Pos)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42062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“Tuy cuốn hút nhưng dạy hơi khó theo dõi.”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“Slide bài giảng nên sắp xếp nội dung logic hơn.”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“Cách truyền đạt vô cùng nhàm chán.”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3611880"/>
            <a:ext cx="5468112" cy="2377440"/>
          </a:xfrm>
          <a:prstGeom prst="roundRect">
            <a:avLst>
              <a:gd name="adj" fmla="val 3846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(Pos → Neg)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46520" y="42062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“Tuy hơi lộn xộn nhưng khá hữu ích.”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“Bài giảng chẳng hề buồn ngủ một chút nào.”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“Tuy hơi chán nhưng rất dễ tiếp thu.”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 · Error Analysis · run_pipeline.py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Mổ xẻ 3 câu model đoán sai (Exp A · ngưỡng 2.0)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cộng dồn từng token → thấy rõ chỗ sai. Xanh = +, Đỏ = −, Xám = phủ định/nhấn mạnh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1572768"/>
          </a:xfrm>
          <a:prstGeom prst="roundRect">
            <a:avLst>
              <a:gd name="adj" fmla="val 5814"/>
            </a:avLst>
          </a:prstGeom>
          <a:solidFill>
            <a:srgbClr val="F6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356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“Tuy tận tâm nhưng dạy cực kỳ mơ hồ.”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0" y="1453896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14538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Nhượng bộ · Neg → Pos 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947672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4F3E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9339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11096" y="1947672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4F3EE"/>
          </a:solidFill>
          <a:ln/>
        </p:spPr>
      </p:sp>
      <p:sp>
        <p:nvSpPr>
          <p:cNvPr id="12" name="Text 10"/>
          <p:cNvSpPr/>
          <p:nvPr/>
        </p:nvSpPr>
        <p:spPr>
          <a:xfrm>
            <a:off x="1911096" y="199339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tận tâm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11096" y="22860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44952" y="1947672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4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3044952" y="199339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44952" y="22860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78808" y="1947672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4F3EE"/>
          </a:solidFill>
          <a:ln/>
        </p:spPr>
      </p:sp>
      <p:sp>
        <p:nvSpPr>
          <p:cNvPr id="18" name="Text 16"/>
          <p:cNvSpPr/>
          <p:nvPr/>
        </p:nvSpPr>
        <p:spPr>
          <a:xfrm>
            <a:off x="4178808" y="199339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78808" y="22860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12664" y="1947672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5ECF3"/>
          </a:solidFill>
          <a:ln/>
        </p:spPr>
      </p:sp>
      <p:sp>
        <p:nvSpPr>
          <p:cNvPr id="21" name="Text 19"/>
          <p:cNvSpPr/>
          <p:nvPr/>
        </p:nvSpPr>
        <p:spPr>
          <a:xfrm>
            <a:off x="5312664" y="199339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cực kỳ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12664" y="22860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1947672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FBE9E4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993392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mơ hồ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22860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17536" y="1947672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7717536" y="19476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Σ = +2.0  </a:t>
            </a:r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→ Positive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262432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sao:  </a:t>
            </a:r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điểm cả 2 vế; hư từ “tuy/nhưng/dạy” đều bị tính +1 → vế chê “mơ hồ” (−2) không kéo lại đủ.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044952"/>
            <a:ext cx="11091672" cy="1572768"/>
          </a:xfrm>
          <a:prstGeom prst="roundRect">
            <a:avLst>
              <a:gd name="adj" fmla="val 5814"/>
            </a:avLst>
          </a:prstGeom>
          <a:solidFill>
            <a:srgbClr val="F6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3154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“Phương pháp dạy chẳng hề khô khan.”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686800" y="3172968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0" y="31729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Phủ định · Pos → Neg 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3666744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FEFEF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371246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" y="400507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11096" y="3666744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4F3EE"/>
          </a:solidFill>
          <a:ln/>
        </p:spPr>
      </p:sp>
      <p:sp>
        <p:nvSpPr>
          <p:cNvPr id="37" name="Text 35"/>
          <p:cNvSpPr/>
          <p:nvPr/>
        </p:nvSpPr>
        <p:spPr>
          <a:xfrm>
            <a:off x="1911096" y="371246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11096" y="400507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44952" y="3666744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5ECF3"/>
          </a:solidFill>
          <a:ln/>
        </p:spPr>
      </p:sp>
      <p:sp>
        <p:nvSpPr>
          <p:cNvPr id="40" name="Text 38"/>
          <p:cNvSpPr/>
          <p:nvPr/>
        </p:nvSpPr>
        <p:spPr>
          <a:xfrm>
            <a:off x="3044952" y="371246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chẳng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044952" y="400507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đảo dấu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78808" y="3666744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4F3EE"/>
          </a:solidFill>
          <a:ln/>
        </p:spPr>
      </p:sp>
      <p:sp>
        <p:nvSpPr>
          <p:cNvPr id="43" name="Text 41"/>
          <p:cNvSpPr/>
          <p:nvPr/>
        </p:nvSpPr>
        <p:spPr>
          <a:xfrm>
            <a:off x="4178808" y="371246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hề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178808" y="400507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12664" y="3666744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FBE9E4"/>
          </a:solidFill>
          <a:ln/>
        </p:spPr>
      </p:sp>
      <p:sp>
        <p:nvSpPr>
          <p:cNvPr id="46" name="Text 44"/>
          <p:cNvSpPr/>
          <p:nvPr/>
        </p:nvSpPr>
        <p:spPr>
          <a:xfrm>
            <a:off x="5312664" y="371246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 khan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12664" y="400507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83680" y="3666744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0" y="366674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Σ = +1.0  </a:t>
            </a:r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→ Negative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77240" y="4343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sao:  </a:t>
            </a:r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khen (“chẳng hề khô khan”). Đảo dấu chỉ chạm 2 token + từ vựng xếp sai loại → chỉ đạt 1.0 &lt; 2.0.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8640" y="4764024"/>
            <a:ext cx="11091672" cy="1572768"/>
          </a:xfrm>
          <a:prstGeom prst="roundRect">
            <a:avLst>
              <a:gd name="adj" fmla="val 5814"/>
            </a:avLst>
          </a:prstGeom>
          <a:solidFill>
            <a:srgbClr val="F6F9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48737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“Phần lý thuyết hơi nhàm chán.”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8686800" y="4892040"/>
            <a:ext cx="2834640" cy="384048"/>
          </a:xfrm>
          <a:prstGeom prst="roundRect">
            <a:avLst>
              <a:gd name="adj" fmla="val 23810"/>
            </a:avLst>
          </a:prstGeom>
          <a:solidFill>
            <a:srgbClr val="E4572E"/>
          </a:solidFill>
          <a:ln/>
        </p:spPr>
      </p:sp>
      <p:sp>
        <p:nvSpPr>
          <p:cNvPr id="54" name="Text 52"/>
          <p:cNvSpPr/>
          <p:nvPr/>
        </p:nvSpPr>
        <p:spPr>
          <a:xfrm>
            <a:off x="8686800" y="48920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Bẫy từ vựng · Neg → Pos ✗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77240" y="5385816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4F3EE"/>
          </a:solidFill>
          <a:ln/>
        </p:spPr>
      </p:sp>
      <p:sp>
        <p:nvSpPr>
          <p:cNvPr id="56" name="Text 54"/>
          <p:cNvSpPr/>
          <p:nvPr/>
        </p:nvSpPr>
        <p:spPr>
          <a:xfrm>
            <a:off x="777240" y="5431536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77240" y="572414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911096" y="5385816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4F3EE"/>
          </a:solidFill>
          <a:ln/>
        </p:spPr>
      </p:sp>
      <p:sp>
        <p:nvSpPr>
          <p:cNvPr id="59" name="Text 57"/>
          <p:cNvSpPr/>
          <p:nvPr/>
        </p:nvSpPr>
        <p:spPr>
          <a:xfrm>
            <a:off x="1911096" y="5431536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911096" y="572414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044952" y="5385816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5ECF3"/>
          </a:solidFill>
          <a:ln/>
        </p:spPr>
      </p:sp>
      <p:sp>
        <p:nvSpPr>
          <p:cNvPr id="62" name="Text 60"/>
          <p:cNvSpPr/>
          <p:nvPr/>
        </p:nvSpPr>
        <p:spPr>
          <a:xfrm>
            <a:off x="3044952" y="5431536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hơi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044952" y="572414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×0.5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178808" y="5385816"/>
            <a:ext cx="1042416" cy="658368"/>
          </a:xfrm>
          <a:prstGeom prst="roundRect">
            <a:avLst>
              <a:gd name="adj" fmla="val 9722"/>
            </a:avLst>
          </a:prstGeom>
          <a:solidFill>
            <a:srgbClr val="E4F3EE"/>
          </a:solidFill>
          <a:ln/>
        </p:spPr>
      </p:sp>
      <p:sp>
        <p:nvSpPr>
          <p:cNvPr id="65" name="Text 63"/>
          <p:cNvSpPr/>
          <p:nvPr/>
        </p:nvSpPr>
        <p:spPr>
          <a:xfrm>
            <a:off x="4178808" y="5431536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nhàm chán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178808" y="572414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449824" y="538581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68" name="Text 66"/>
          <p:cNvSpPr/>
          <p:nvPr/>
        </p:nvSpPr>
        <p:spPr>
          <a:xfrm>
            <a:off x="5449824" y="53858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Σ = +2.5  </a:t>
            </a:r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→ Positive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77240" y="60624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sao:  </a:t>
            </a:r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“nhàm chán” bị xếp NHẦM vào pos_vocab (+0.5 thay vì âm) — câu chê hoá thành khen.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 · Error Analysis · run_pipeline.py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model sai? 3 nguyên nhân gốc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43000"/>
            <a:ext cx="1965960" cy="14630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97480" y="1344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Phủ định chỉ tác dụng trong cửa sổ hẹp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97480" y="1801368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“chưa”, “không” chỉ đảo dấu vài token kế; từ cảm xúc nằm ngoài cửa sổ không bị đảo → câu tiêu cực vẫn dương.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770632"/>
            <a:ext cx="1965960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70632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2971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điểm cả hai vế “tuy…nhưng”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3429000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cộng dồn cả 2 vế, không nhận ra vế sau “nhưng” mới mang ý chính → điểm tổng lệch hướng.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398264"/>
            <a:ext cx="1965960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98264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97480" y="45994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trung tính / góp ý chưa có trọng số đúng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97480" y="5056632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học thuật trung tính lọt vào pos_vocab; câu góp ý (“nên”, “cần”) chưa đủ sức kéo điểm về âm.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 · Error Analysis · run_pipeline.py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xuất cải thiện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2B3570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6304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cửa sổ phủ định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negator tác dụng tới cụm từ cảm xúc phía sau, và chỉ đảo tích cực → tiêu cực.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2B35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46304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69480" y="14173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riêng “tuy…nhưng”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tiên/ nhân trọng số vế sau liên từ nhượng bộ thay vì cộng dồn cả câu.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2B3570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7490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 &amp; bổ sung vocab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5720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từ trung tính khỏi pos_vocab; thêm lexicon góp ý (nên, cần, thiếu) có trọng số âm.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52044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2B35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379476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69480" y="37490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ngưỡng theo F1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45720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vì tối ưu accuracy đơn thuần — cân bằng precision/recall để giảm bias Positive.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76072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3FA79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7607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2000 câu khó là “bộ hồi quy” để kiểm tra mỗi lần sửa classifier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 · Error Analysis · run_pipeline.py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480560"/>
          </a:xfrm>
          <a:prstGeom prst="roundRect">
            <a:avLst>
              <a:gd name="adj" fmla="val 2449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run_pipeline.py chạy ổn định end-to-end.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stopwords giúp tăng accuracy (60.3% → 72.1% trên test thường),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cả hai cấu hình vẫn over-predict “Positive”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và trên 2000 câu khó, accuracy tụt về ~66–68%.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611880"/>
            <a:ext cx="10332720" cy="0"/>
          </a:xfrm>
          <a:prstGeom prst="line">
            <a:avLst/>
          </a:prstGeom>
          <a:noFill/>
          <a:ln w="12700">
            <a:solidFill>
              <a:srgbClr val="D3DC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thắt là logic negation + xử lý câu nhượng bộ, không phải stopwords. Cần sửa 2 chỗ này trước.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617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tạo mới: data/test/hard_cases_2000.csv · scripts/task11_generate_hard_cases.py · scripts/task11_run_pipeline_hardtest.py · docs/hard_cases_*.csv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theo: fix negation window + concessive, chạy lại 2000 câu khó để đo tiến bộ.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11 · Error Analysis · run_pipeline.py  | 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11 - Error Analysis (Pipeline + Hard Cases)</dc:title>
  <dc:subject>PptxGenJS Presentation</dc:subject>
  <dc:creator>Tam Tran</dc:creator>
  <cp:lastModifiedBy>Tam Tran</cp:lastModifiedBy>
  <cp:revision>1</cp:revision>
  <dcterms:created xsi:type="dcterms:W3CDTF">2026-07-01T17:01:40Z</dcterms:created>
  <dcterms:modified xsi:type="dcterms:W3CDTF">2026-07-01T17:01:40Z</dcterms:modified>
</cp:coreProperties>
</file>